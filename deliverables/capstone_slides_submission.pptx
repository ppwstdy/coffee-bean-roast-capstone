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c8a3e8f09442e4" /><Relationship Type="http://schemas.openxmlformats.org/officeDocument/2006/relationships/extended-properties" Target="/docProps/app.xml" Id="Rb5ce404660404b07" /><Relationship Type="http://schemas.openxmlformats.org/officeDocument/2006/relationships/officeDocument" Target="/ppt/presentation.xml" Id="R0f70e9900c7e44f6" /></Relationships>
</file>

<file path=ppt/presentation.xml><?xml version="1.0" encoding="utf-8"?>
<p:presentation xmlns:p="http://schemas.openxmlformats.org/presentationml/2006/main">
  <p:sldMasterIdLst>
    <p:sldMasterId xmlns:r="http://schemas.openxmlformats.org/officeDocument/2006/relationships" id="2147483648" r:id="Rd30082abf8574052"/>
  </p:sldMasterIdLst>
  <p:notesMasterIdLst>
    <p:notesMasterId xmlns:r="http://schemas.openxmlformats.org/officeDocument/2006/relationships" r:id="R412ab08965884c52"/>
  </p:notesMasterIdLst>
  <p:sldIdLst>
    <p:sldId xmlns:r="http://schemas.openxmlformats.org/officeDocument/2006/relationships" id="256" r:id="Rb49a9184a8a74078"/>
    <p:sldId xmlns:r="http://schemas.openxmlformats.org/officeDocument/2006/relationships" id="257" r:id="R80610e7caf9e4475"/>
    <p:sldId xmlns:r="http://schemas.openxmlformats.org/officeDocument/2006/relationships" id="258" r:id="Rd9e824f590654412"/>
    <p:sldId xmlns:r="http://schemas.openxmlformats.org/officeDocument/2006/relationships" id="259" r:id="Re08c8bae8ca84a3f"/>
    <p:sldId xmlns:r="http://schemas.openxmlformats.org/officeDocument/2006/relationships" id="260" r:id="R32b48db25e6641c3"/>
    <p:sldId xmlns:r="http://schemas.openxmlformats.org/officeDocument/2006/relationships" id="261" r:id="R00d723555f274013"/>
    <p:sldId xmlns:r="http://schemas.openxmlformats.org/officeDocument/2006/relationships" id="262" r:id="R86670be7e7e44c46"/>
    <p:sldId xmlns:r="http://schemas.openxmlformats.org/officeDocument/2006/relationships" id="263" r:id="Rd8ac3b463bce4e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c9061e50c04bc2" /><Relationship Type="http://schemas.openxmlformats.org/officeDocument/2006/relationships/slideMaster" Target="/ppt/slideMasters/slideMaster1.xml" Id="Rd30082abf8574052" /><Relationship Type="http://schemas.openxmlformats.org/officeDocument/2006/relationships/notesMaster" Target="/ppt/notesMasters/notesMaster1.xml" Id="R412ab08965884c52" /><Relationship Type="http://schemas.openxmlformats.org/officeDocument/2006/relationships/presProps" Target="/ppt/presProps.xml" Id="Ref0f3b087cf94faa" /><Relationship Type="http://schemas.openxmlformats.org/officeDocument/2006/relationships/tableStyles" Target="/ppt/tableStyles.xml" Id="R2039eb66806a4d7a" /><Relationship Type="http://schemas.openxmlformats.org/officeDocument/2006/relationships/slide" Target="/ppt/slides/slide1.xml" Id="Rb49a9184a8a74078" /><Relationship Type="http://schemas.openxmlformats.org/officeDocument/2006/relationships/slide" Target="/ppt/slides/slide2.xml" Id="R80610e7caf9e4475" /><Relationship Type="http://schemas.openxmlformats.org/officeDocument/2006/relationships/slide" Target="/ppt/slides/slide3.xml" Id="Rd9e824f590654412" /><Relationship Type="http://schemas.openxmlformats.org/officeDocument/2006/relationships/slide" Target="/ppt/slides/slide4.xml" Id="Re08c8bae8ca84a3f" /><Relationship Type="http://schemas.openxmlformats.org/officeDocument/2006/relationships/slide" Target="/ppt/slides/slide5.xml" Id="R32b48db25e6641c3" /><Relationship Type="http://schemas.openxmlformats.org/officeDocument/2006/relationships/slide" Target="/ppt/slides/slide6.xml" Id="R00d723555f274013" /><Relationship Type="http://schemas.openxmlformats.org/officeDocument/2006/relationships/slide" Target="/ppt/slides/slide7.xml" Id="R86670be7e7e44c46" /><Relationship Type="http://schemas.openxmlformats.org/officeDocument/2006/relationships/slide" Target="/ppt/slides/slide8.xml" Id="Rd8ac3b463bce4e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817d5a714546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a3885285f74845" /><Relationship Type="http://schemas.openxmlformats.org/officeDocument/2006/relationships/notesMaster" Target="/ppt/notesMasters/notesMaster1.xml" Id="R3c5737d0b2624d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ed816a4e454341" /><Relationship Type="http://schemas.openxmlformats.org/officeDocument/2006/relationships/notesMaster" Target="/ppt/notesMasters/notesMaster1.xml" Id="R47a5913b7e9f42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43c08b636646af" /><Relationship Type="http://schemas.openxmlformats.org/officeDocument/2006/relationships/notesMaster" Target="/ppt/notesMasters/notesMaster1.xml" Id="R01aea368c7d24f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9bf5abf3d14989" /><Relationship Type="http://schemas.openxmlformats.org/officeDocument/2006/relationships/notesMaster" Target="/ppt/notesMasters/notesMaster1.xml" Id="R179e6d7d700a42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ac60eaa3904a73" /><Relationship Type="http://schemas.openxmlformats.org/officeDocument/2006/relationships/notesMaster" Target="/ppt/notesMasters/notesMaster1.xml" Id="R0296a37228ec4d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2e5e99027542e9" /><Relationship Type="http://schemas.openxmlformats.org/officeDocument/2006/relationships/notesMaster" Target="/ppt/notesMasters/notesMaster1.xml" Id="Rdedcf023887a46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6f31c619834064" /><Relationship Type="http://schemas.openxmlformats.org/officeDocument/2006/relationships/notesMaster" Target="/ppt/notesMasters/notesMaster1.xml" Id="R7ff49685df814c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e2773d38314fd0" /><Relationship Type="http://schemas.openxmlformats.org/officeDocument/2006/relationships/notesMaster" Target="/ppt/notesMasters/notesMaster1.xml" Id="R235e812fdeea4c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State the educational image-level scope and intended user. Green means unroasted. Scope revision needs instructor approval. Show examples and explain that these are licensed validation fixtures. Sources: DATA_LICENSE.md; https://www.kaggle.com/datasets/gpiosenka/coffee-bean-dataset-resized-224-x-224; https://www.kaggle.com/datasets/sot2542/coffee-bean-dataset-v1; https://arxiv.org/abs/2206.01841. Actual release metadata and reports/evidence support measured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Explain that all400 original test images duplicated original training images. The original99.75% score remains a historical baseline. The corrected manifest enforces zero exact-pixel duplicates, but does not prove group/near-duplicate independence. Sources: DATA_LICENSE.md; https://www.kaggle.com/datasets/gpiosenka/coffee-bean-dataset-resized-224-x-224; https://www.kaggle.com/datasets/sot2542/coffee-bean-dataset-v1; https://arxiv.org/abs/2206.01841. Actual release metadata and reports/evidence support measured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 Show the actual Git commit, DVC revision, dependency hash and MLflow history in the repository. Keep the model-selection explanation brief: lowest validation loss; compare exports only on validation; evaluate selected release once on test. Twenty epochs took22.44minutes, batch8 on Apple M1 MPS. No bitwise determinism claim. Loss chart values are rounded to four decimal places; full precision remains in training_history.json. Sources: DATA_LICENSE.md; https://www.kaggle.com/datasets/gpiosenka/coffee-bean-dataset-resized-224-x-224; https://www.kaggle.com/datasets/sot2542/coffee-bean-dataset-v1; https://arxiv.org/abs/2206.01841. Actual release metadata and reports/evidence support measured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3:00–4:00. Walk through the Azure East Asia architecture and registry lineage. The final Linux image is pinned by digest. Runtime managed identity and GitHub OIDC avoid saved cloud secrets. PR validation restores a model instead of training. Candidate endpoint checks and fixed benchmark gates precede traffic promotion; failures restore previous traffic. Sources: https://learn.microsoft.com/azure/container-apps/scale-app; https://learn.microsoft.com/azure/container-apps/managed-identity; reports/evidence/ci-success.json.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Submit a real coffee PNG and base64 image. Show four finite probabilities, class IDs0–3 and matching X-Model-Version. Invite unexpected input. API tests and OpenAPI document controlled errors. Do not imply calibrated confidence or automatic noncoffee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5:00–6:00. Inject black and white frames; show422 before inference, rejection JSON, anomaly counter, local webhook and deployed workbook. Trigger Azure email ahead because its evaluation interval is five minutes. Actual recipient delivery must be evidenced separately from a configured action group. Show guard mutation causes failing regression and deployment prevention. Sources: https://learn.microsoft.com/azure/container-apps/log-monitoring; reports/evidence/local-alert-delivery.log; reports/evidence/optical-regression-drill.json.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 Show deployed warm and cold reports when complete. Explain1000 requests at concurrency2 and20 verifiedzero-replica cold trials. Freeze initialp95/p99 plus20% and enforce fixed targets later. Container bytes are separate. Cost/1000 uses actual wall duration and a conservative configured two-replica allocation bound; it is not an invoice. Registry/storage/monitoring remain chargeable during scale-to-zero. Primary rates and ECB exchange are captured under reports/evidence.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7:00–8:00. Show the current requirement checklist and ownership audit. The API and DVC remote remain available until the user-approved October 18 cleanup; actual deletion evidence is pending until that cleanup runs. All technical requirements need successful evidence. Instructor scope approval, architecture clinic, live presentation/Q&amp;A and final submission remain external milestones. Proposed team responsibility split must be confirmed by actual contributions. Another week would focus on independent camera/source data, calibration and broader operating-condition checks. Reserve five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d2110052b948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71ae96660a4c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751f72ba1443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997fe5feea4f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e6e04775fb4f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291b6131d747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8E604B-5FA8-417D-8040-5AE29EE6C7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C22684-41E5-4C2F-8321-C9BC2CCCB8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433B5E-A359-4234-B553-54A33771B8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FDCD84-F664-4DAD-A786-E2FD4044D3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4F1458-C807-422A-B72C-E62F65AF27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98D03C-5B47-4EB3-B6A3-76B9625976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7996C7-31D7-4517-8377-7A4A738216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9A08D7-0AD5-43D2-82CC-7446C7BDAB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12E214-4418-4BAD-BD2E-77967A360D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FDCDE4-EAF3-4A37-91D6-D05E9CABDD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69be88dcfa434a" /><Relationship Type="http://schemas.openxmlformats.org/officeDocument/2006/relationships/slideLayout" Target="/ppt/slideLayouts/slideLayout1.xml" Id="Ra0c468f2177c4fb9" /><Relationship Type="http://schemas.openxmlformats.org/officeDocument/2006/relationships/slideLayout" Target="/ppt/slideLayouts/slideLayout2.xml" Id="R717e84cddfb844ee" /><Relationship Type="http://schemas.openxmlformats.org/officeDocument/2006/relationships/slideLayout" Target="/ppt/slideLayouts/slideLayout3.xml" Id="R64fc125633f347ee" /><Relationship Type="http://schemas.openxmlformats.org/officeDocument/2006/relationships/slideLayout" Target="/ppt/slideLayouts/slideLayout4.xml" Id="Rdd5f9c8ea6f6475a" /><Relationship Type="http://schemas.openxmlformats.org/officeDocument/2006/relationships/slideLayout" Target="/ppt/slideLayouts/slideLayout5.xml" Id="R920e700ee03d4c08" /><Relationship Type="http://schemas.openxmlformats.org/officeDocument/2006/relationships/slideLayout" Target="/ppt/slideLayouts/slideLayout6.xml" Id="Ra1ec3122b7a7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c468f2177c4fb9"/>
    <p:sldLayoutId xmlns:r="http://schemas.openxmlformats.org/officeDocument/2006/relationships" id="2147483650" r:id="R717e84cddfb844ee"/>
    <p:sldLayoutId xmlns:r="http://schemas.openxmlformats.org/officeDocument/2006/relationships" id="2147483651" r:id="R64fc125633f347ee"/>
    <p:sldLayoutId xmlns:r="http://schemas.openxmlformats.org/officeDocument/2006/relationships" id="2147483652" r:id="Rdd5f9c8ea6f6475a"/>
    <p:sldLayoutId xmlns:r="http://schemas.openxmlformats.org/officeDocument/2006/relationships" id="2147483653" r:id="R920e700ee03d4c08"/>
    <p:sldLayoutId xmlns:r="http://schemas.openxmlformats.org/officeDocument/2006/relationships" id="2147483654" r:id="Ra1ec3122b7a7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fd5d104e4840d4" /><Relationship Type="http://schemas.openxmlformats.org/officeDocument/2006/relationships/image" Target="/ppt/media/image.png" Id="R714ed3be78bf42e3" /><Relationship Type="http://schemas.openxmlformats.org/officeDocument/2006/relationships/image" Target="/ppt/media/image2.png" Id="R632e0d21daf04870" /><Relationship Type="http://schemas.openxmlformats.org/officeDocument/2006/relationships/image" Target="/ppt/media/image3.png" Id="Rc44f9057328044fd" /><Relationship Type="http://schemas.openxmlformats.org/officeDocument/2006/relationships/image" Target="/ppt/media/image4.png" Id="R25a18b895f824a27" /><Relationship Type="http://schemas.openxmlformats.org/officeDocument/2006/relationships/notesSlide" Target="/ppt/notesSlides/notesSlide1.xml" Id="Rea7a1e1502b94d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fed3d7b3254b6e" /><Relationship Type="http://schemas.openxmlformats.org/officeDocument/2006/relationships/chart" Target="/ppt/slides/charts/chart1.xml" Id="Rdb71eb421026494b" /><Relationship Type="http://schemas.openxmlformats.org/officeDocument/2006/relationships/notesSlide" Target="/ppt/notesSlides/notesSlide2.xml" Id="Rebebd3941ddb48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6e55beb5fb4e09" /><Relationship Type="http://schemas.openxmlformats.org/officeDocument/2006/relationships/chart" Target="/ppt/slides/charts/chart2.xml" Id="R4122e393dc4a43ce" /><Relationship Type="http://schemas.openxmlformats.org/officeDocument/2006/relationships/notesSlide" Target="/ppt/notesSlides/notesSlide3.xml" Id="R9451e367f69048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612896bdc542b5" /><Relationship Type="http://schemas.openxmlformats.org/officeDocument/2006/relationships/notesSlide" Target="/ppt/notesSlides/notesSlide4.xml" Id="R4aaccc9af635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f64611be3e4b18" /><Relationship Type="http://schemas.openxmlformats.org/officeDocument/2006/relationships/notesSlide" Target="/ppt/notesSlides/notesSlide5.xml" Id="R7ae862ba4e5843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de352d356041c0" /><Relationship Type="http://schemas.openxmlformats.org/officeDocument/2006/relationships/notesSlide" Target="/ppt/notesSlides/notesSlide6.xml" Id="Rb52b226b1a6645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361d5ee2b644b4" /><Relationship Type="http://schemas.openxmlformats.org/officeDocument/2006/relationships/notesSlide" Target="/ppt/notesSlides/notesSlide7.xml" Id="Raee5baac7cb742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666989f2e845d4" /><Relationship Type="http://schemas.openxmlformats.org/officeDocument/2006/relationships/notesSlide" Target="/ppt/notesSlides/notesSlide8.xml" Id="R7cc7e0d88db945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Unique images</c:v>
          </c:tx>
          <c:spPr>
            <a:solidFill xmlns:a="http://schemas.openxmlformats.org/drawingml/2006/main">
              <a:srgbClr val="35604A"/>
            </a:solidFill>
          </c:spPr>
          <c:cat>
            <c:strRef>
              <c:f>'Chart Data'!$A$2:$A$4</c:f>
              <c:strCache>
                <c:ptCount val="3"/>
                <c:pt idx="0">
                  <c:v>Train</c:v>
                </c:pt>
                <c:pt idx="1">
                  <c:v>Validation</c:v>
                </c:pt>
                <c:pt idx="2">
                  <c:v>Test</c:v>
                </c:pt>
              </c:strCache>
            </c:strRef>
          </c:cat>
          <c:val>
            <c:numRef>
              <c:f>'Chart Data'!$B$2:$B$4</c:f>
              <c:numCache>
                <c:formatCode>General</c:formatCode>
                <c:ptCount val="3"/>
                <c:pt idx="0">
                  <c:v>835</c:v>
                </c:pt>
                <c:pt idx="1">
                  <c:v>178</c:v>
                </c:pt>
                <c:pt idx="2">
                  <c:v>181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DED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 loss</c:v>
          </c:tx>
          <c:spPr>
            <a:solidFill xmlns:a="http://schemas.openxmlformats.org/drawingml/2006/main">
              <a:srgbClr val="A4693C"/>
            </a:solidFill>
          </c:spPr>
          <c:marker>
            <c:symbol val="none"/>
          </c:marker>
          <c:cat>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Data'!$B$2:$B$21</c:f>
              <c:numCache>
                <c:formatCode>General</c:formatCode>
                <c:ptCount val="20"/>
                <c:pt idx="0">
                  <c:v>0.9695</c:v>
                </c:pt>
                <c:pt idx="1">
                  <c:v>0.3638</c:v>
                </c:pt>
                <c:pt idx="2">
                  <c:v>0.287</c:v>
                </c:pt>
                <c:pt idx="3">
                  <c:v>0.2679</c:v>
                </c:pt>
                <c:pt idx="4">
                  <c:v>0.2471</c:v>
                </c:pt>
                <c:pt idx="5">
                  <c:v>0.2391</c:v>
                </c:pt>
                <c:pt idx="6">
                  <c:v>0.2217</c:v>
                </c:pt>
                <c:pt idx="7">
                  <c:v>0.2205</c:v>
                </c:pt>
                <c:pt idx="8">
                  <c:v>0.2141</c:v>
                </c:pt>
                <c:pt idx="9">
                  <c:v>0.2099</c:v>
                </c:pt>
                <c:pt idx="10">
                  <c:v>0.2166</c:v>
                </c:pt>
                <c:pt idx="11">
                  <c:v>0.2275</c:v>
                </c:pt>
                <c:pt idx="12">
                  <c:v>0.2116</c:v>
                </c:pt>
                <c:pt idx="13">
                  <c:v>0.2111</c:v>
                </c:pt>
                <c:pt idx="14">
                  <c:v>0.209</c:v>
                </c:pt>
                <c:pt idx="15">
                  <c:v>0.2091</c:v>
                </c:pt>
                <c:pt idx="16">
                  <c:v>0.2074</c:v>
                </c:pt>
                <c:pt idx="17">
                  <c:v>0.2066</c:v>
                </c:pt>
                <c:pt idx="18">
                  <c:v>0.2059</c:v>
                </c:pt>
                <c:pt idx="19">
                  <c:v>0.209</c:v>
                </c:pt>
              </c:numCache>
            </c:numRef>
          </c:val>
        </c:ser>
        <c:ser>
          <c:idx val="1"/>
          <c:order val="1"/>
          <c:tx>
            <c:v>Validation loss</c:v>
          </c:tx>
          <c:spPr>
            <a:solidFill xmlns:a="http://schemas.openxmlformats.org/drawingml/2006/main">
              <a:srgbClr val="35604A"/>
            </a:solidFill>
          </c:spPr>
          <c:marker>
            <c:symbol val="none"/>
          </c:marker>
          <c:cat>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Data'!$D$2:$D$21</c:f>
              <c:numCache>
                <c:formatCode>General</c:formatCode>
                <c:ptCount val="20"/>
                <c:pt idx="0">
                  <c:v>0.5206</c:v>
                </c:pt>
                <c:pt idx="1">
                  <c:v>0.267</c:v>
                </c:pt>
                <c:pt idx="2">
                  <c:v>0.2347</c:v>
                </c:pt>
                <c:pt idx="3">
                  <c:v>0.2199</c:v>
                </c:pt>
                <c:pt idx="4">
                  <c:v>0.2253</c:v>
                </c:pt>
                <c:pt idx="5">
                  <c:v>0.2063</c:v>
                </c:pt>
                <c:pt idx="6">
                  <c:v>0.2058</c:v>
                </c:pt>
                <c:pt idx="7">
                  <c:v>0.2087</c:v>
                </c:pt>
                <c:pt idx="8">
                  <c:v>0.2036</c:v>
                </c:pt>
                <c:pt idx="9">
                  <c:v>0.2033</c:v>
                </c:pt>
                <c:pt idx="10">
                  <c:v>0.2101</c:v>
                </c:pt>
                <c:pt idx="11">
                  <c:v>0.2088</c:v>
                </c:pt>
                <c:pt idx="12">
                  <c:v>0.2223</c:v>
                </c:pt>
                <c:pt idx="13">
                  <c:v>0.2044</c:v>
                </c:pt>
                <c:pt idx="14">
                  <c:v>0.2112</c:v>
                </c:pt>
                <c:pt idx="15">
                  <c:v>0.2068</c:v>
                </c:pt>
                <c:pt idx="16">
                  <c:v>0.208</c:v>
                </c:pt>
                <c:pt idx="17">
                  <c:v>0.2082</c:v>
                </c:pt>
                <c:pt idx="18">
                  <c:v>0.2081</c:v>
                </c:pt>
                <c:pt idx="19">
                  <c:v>0.2077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DED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053258-C31E-4C25-8878-09ECCB168229}"/>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4D395772-7E9A-4171-BCF5-FF4B192B4133}"/>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Coffee Bean Roast Classification</a:t>
            </a:r>
          </a:p>
        </p:txBody>
      </p:sp>
      <p:sp>
        <p:nvSpPr>
          <p:cNvPr id="3" name="">
            <a:extLst xmlns:a="http://schemas.openxmlformats.org/drawingml/2006/main">
              <a:ext uri="{FF2B5EF4-FFF2-40B4-BE49-F238E27FC236}">
                <a16:creationId xmlns:a16="http://schemas.microsoft.com/office/drawing/2014/main" id="{71BC0B38-B815-41FD-8AF8-54E425B1AA0C}"/>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A58B132E-ADD8-48C2-B829-5FAD0CFB6ECE}"/>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AB951CC-B1AF-441A-8538-28CEC06B7041}"/>
              </a:ext>
            </a:extLst>
          </p:cNvPr>
          <p:cNvSpPr>
            <a:spLocks xmlns:a="http://schemas.openxmlformats.org/drawingml/2006/main" noGrp="1"/>
          </p:cNvSpPr>
          <p:nvPr/>
        </p:nvSpPr>
        <p:spPr>
          <a:xfrm xmlns:a="http://schemas.openxmlformats.org/drawingml/2006/main">
            <a:off x="609600" y="1838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5604A"/>
                </a:solidFill>
                <a:latin typeface="Arial"/>
                <a:ea typeface="Arial"/>
                <a:cs typeface="Arial"/>
              </a:defRPr>
            </a:defPPr>
          </a:lstStyle>
          <a:p xmlns:a="http://schemas.openxmlformats.org/drawingml/2006/main">
            <a:pPr>
              <a:defRPr sz="2100" b="0">
                <a:solidFill>
                  <a:srgbClr val="35604A"/>
                </a:solidFill>
                <a:latin typeface="Arial"/>
                <a:ea typeface="Arial"/>
                <a:cs typeface="Arial"/>
              </a:defRPr>
            </a:pPr>
            <a:r>
              <a:rPr sz="2100" b="0">
                <a:solidFill>
                  <a:srgbClr val="35604A"/>
                </a:solidFill>
                <a:latin typeface="Arial"/>
                <a:ea typeface="Arial"/>
                <a:cs typeface="Arial"/>
              </a:rPr>
              <a:t>Visual inspection API  ·  Dark / Green / Light / Medium</a:t>
            </a:r>
          </a:p>
        </p:txBody>
      </p:sp>
      <p:pic>
        <p:nvPicPr>
          <p:cNvPr id="6" name="">
            <a:extLst xmlns:a="http://schemas.openxmlformats.org/drawingml/2006/main">
              <a:ext uri="{FF2B5EF4-FFF2-40B4-BE49-F238E27FC236}">
                <a16:creationId xmlns:a16="http://schemas.microsoft.com/office/drawing/2014/main" id="{22F95FD2-B90D-4E67-B6A5-24018727B6D1}"/>
              </a:ext>
            </a:extLst>
          </p:cNvPr>
          <p:cNvPicPr>
            <a:picLocks xmlns:a="http://schemas.openxmlformats.org/drawingml/2006/main" noChangeAspect="1"/>
          </p:cNvPicPr>
          <p:nvPr/>
        </p:nvPicPr>
        <p:blipFill>
          <a:blip xmlns:r="http://schemas.openxmlformats.org/officeDocument/2006/relationships" xmlns:a="http://schemas.openxmlformats.org/drawingml/2006/main" r:embed="R714ed3be78bf42e3"/>
          <a:stretch xmlns:a="http://schemas.openxmlformats.org/drawingml/2006/main"/>
        </p:blipFill>
        <p:spPr>
          <a:xfrm xmlns:a="http://schemas.openxmlformats.org/drawingml/2006/main">
            <a:off x="609600" y="2762250"/>
            <a:ext cx="2286000" cy="2286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014548-8304-45A6-A516-21244CB4D259}"/>
              </a:ext>
            </a:extLst>
          </p:cNvPr>
          <p:cNvSpPr>
            <a:spLocks xmlns:a="http://schemas.openxmlformats.org/drawingml/2006/main" noGrp="1"/>
          </p:cNvSpPr>
          <p:nvPr/>
        </p:nvSpPr>
        <p:spPr>
          <a:xfrm xmlns:a="http://schemas.openxmlformats.org/drawingml/2006/main">
            <a:off x="609600" y="52101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312B"/>
                </a:solidFill>
                <a:latin typeface="Arial"/>
                <a:ea typeface="Arial"/>
                <a:cs typeface="Arial"/>
              </a:defRPr>
            </a:defPPr>
          </a:lstStyle>
          <a:p xmlns:a="http://schemas.openxmlformats.org/drawingml/2006/main">
            <a:pPr>
              <a:defRPr sz="1875" b="1">
                <a:solidFill>
                  <a:srgbClr val="20312B"/>
                </a:solidFill>
                <a:latin typeface="Arial"/>
                <a:ea typeface="Arial"/>
                <a:cs typeface="Arial"/>
              </a:defRPr>
            </a:pPr>
            <a:r>
              <a:rPr sz="1875" b="1">
                <a:solidFill>
                  <a:srgbClr val="20312B"/>
                </a:solidFill>
                <a:latin typeface="Arial"/>
                <a:ea typeface="Arial"/>
                <a:cs typeface="Arial"/>
              </a:rPr>
              <a:t>Dark</a:t>
            </a:r>
          </a:p>
        </p:txBody>
      </p:sp>
      <p:pic>
        <p:nvPicPr>
          <p:cNvPr id="8" name="">
            <a:extLst xmlns:a="http://schemas.openxmlformats.org/drawingml/2006/main">
              <a:ext uri="{FF2B5EF4-FFF2-40B4-BE49-F238E27FC236}">
                <a16:creationId xmlns:a16="http://schemas.microsoft.com/office/drawing/2014/main" id="{45DDA210-2B92-49B0-B629-73BC7409DAF9}"/>
              </a:ext>
            </a:extLst>
          </p:cNvPr>
          <p:cNvPicPr>
            <a:picLocks xmlns:a="http://schemas.openxmlformats.org/drawingml/2006/main" noChangeAspect="1"/>
          </p:cNvPicPr>
          <p:nvPr/>
        </p:nvPicPr>
        <p:blipFill>
          <a:blip xmlns:r="http://schemas.openxmlformats.org/officeDocument/2006/relationships" xmlns:a="http://schemas.openxmlformats.org/drawingml/2006/main" r:embed="R632e0d21daf04870"/>
          <a:stretch xmlns:a="http://schemas.openxmlformats.org/drawingml/2006/main"/>
        </p:blipFill>
        <p:spPr>
          <a:xfrm xmlns:a="http://schemas.openxmlformats.org/drawingml/2006/main">
            <a:off x="3429000" y="2762250"/>
            <a:ext cx="2286000" cy="2286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97D710D-5148-42DE-9988-70709787DCC4}"/>
              </a:ext>
            </a:extLst>
          </p:cNvPr>
          <p:cNvSpPr>
            <a:spLocks xmlns:a="http://schemas.openxmlformats.org/drawingml/2006/main" noGrp="1"/>
          </p:cNvSpPr>
          <p:nvPr/>
        </p:nvSpPr>
        <p:spPr>
          <a:xfrm xmlns:a="http://schemas.openxmlformats.org/drawingml/2006/main">
            <a:off x="3429000" y="52101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312B"/>
                </a:solidFill>
                <a:latin typeface="Arial"/>
                <a:ea typeface="Arial"/>
                <a:cs typeface="Arial"/>
              </a:defRPr>
            </a:defPPr>
          </a:lstStyle>
          <a:p xmlns:a="http://schemas.openxmlformats.org/drawingml/2006/main">
            <a:pPr>
              <a:defRPr sz="1875" b="1">
                <a:solidFill>
                  <a:srgbClr val="20312B"/>
                </a:solidFill>
                <a:latin typeface="Arial"/>
                <a:ea typeface="Arial"/>
                <a:cs typeface="Arial"/>
              </a:defRPr>
            </a:pPr>
            <a:r>
              <a:rPr sz="1875" b="1">
                <a:solidFill>
                  <a:srgbClr val="20312B"/>
                </a:solidFill>
                <a:latin typeface="Arial"/>
                <a:ea typeface="Arial"/>
                <a:cs typeface="Arial"/>
              </a:rPr>
              <a:t>Green</a:t>
            </a:r>
          </a:p>
        </p:txBody>
      </p:sp>
      <p:pic>
        <p:nvPicPr>
          <p:cNvPr id="10" name="">
            <a:extLst xmlns:a="http://schemas.openxmlformats.org/drawingml/2006/main">
              <a:ext uri="{FF2B5EF4-FFF2-40B4-BE49-F238E27FC236}">
                <a16:creationId xmlns:a16="http://schemas.microsoft.com/office/drawing/2014/main" id="{0B6E3494-C993-4A05-BB01-0649FEA9BFB5}"/>
              </a:ext>
            </a:extLst>
          </p:cNvPr>
          <p:cNvPicPr>
            <a:picLocks xmlns:a="http://schemas.openxmlformats.org/drawingml/2006/main" noChangeAspect="1"/>
          </p:cNvPicPr>
          <p:nvPr/>
        </p:nvPicPr>
        <p:blipFill>
          <a:blip xmlns:r="http://schemas.openxmlformats.org/officeDocument/2006/relationships" xmlns:a="http://schemas.openxmlformats.org/drawingml/2006/main" r:embed="Rc44f9057328044fd"/>
          <a:stretch xmlns:a="http://schemas.openxmlformats.org/drawingml/2006/main"/>
        </p:blipFill>
        <p:spPr>
          <a:xfrm xmlns:a="http://schemas.openxmlformats.org/drawingml/2006/main">
            <a:off x="6248400" y="2762250"/>
            <a:ext cx="2286000" cy="2286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A29EA1D-B505-4F5A-972A-49EAA2059F55}"/>
              </a:ext>
            </a:extLst>
          </p:cNvPr>
          <p:cNvSpPr>
            <a:spLocks xmlns:a="http://schemas.openxmlformats.org/drawingml/2006/main" noGrp="1"/>
          </p:cNvSpPr>
          <p:nvPr/>
        </p:nvSpPr>
        <p:spPr>
          <a:xfrm xmlns:a="http://schemas.openxmlformats.org/drawingml/2006/main">
            <a:off x="6248400" y="52101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312B"/>
                </a:solidFill>
                <a:latin typeface="Arial"/>
                <a:ea typeface="Arial"/>
                <a:cs typeface="Arial"/>
              </a:defRPr>
            </a:defPPr>
          </a:lstStyle>
          <a:p xmlns:a="http://schemas.openxmlformats.org/drawingml/2006/main">
            <a:pPr>
              <a:defRPr sz="1875" b="1">
                <a:solidFill>
                  <a:srgbClr val="20312B"/>
                </a:solidFill>
                <a:latin typeface="Arial"/>
                <a:ea typeface="Arial"/>
                <a:cs typeface="Arial"/>
              </a:defRPr>
            </a:pPr>
            <a:r>
              <a:rPr sz="1875" b="1">
                <a:solidFill>
                  <a:srgbClr val="20312B"/>
                </a:solidFill>
                <a:latin typeface="Arial"/>
                <a:ea typeface="Arial"/>
                <a:cs typeface="Arial"/>
              </a:rPr>
              <a:t>Light</a:t>
            </a:r>
          </a:p>
        </p:txBody>
      </p:sp>
      <p:pic>
        <p:nvPicPr>
          <p:cNvPr id="12" name="">
            <a:extLst xmlns:a="http://schemas.openxmlformats.org/drawingml/2006/main">
              <a:ext uri="{FF2B5EF4-FFF2-40B4-BE49-F238E27FC236}">
                <a16:creationId xmlns:a16="http://schemas.microsoft.com/office/drawing/2014/main" id="{2F996E5E-C2F2-4AD8-BB97-67862AAFF507}"/>
              </a:ext>
            </a:extLst>
          </p:cNvPr>
          <p:cNvPicPr>
            <a:picLocks xmlns:a="http://schemas.openxmlformats.org/drawingml/2006/main" noChangeAspect="1"/>
          </p:cNvPicPr>
          <p:nvPr/>
        </p:nvPicPr>
        <p:blipFill>
          <a:blip xmlns:r="http://schemas.openxmlformats.org/officeDocument/2006/relationships" xmlns:a="http://schemas.openxmlformats.org/drawingml/2006/main" r:embed="R25a18b895f824a27"/>
          <a:stretch xmlns:a="http://schemas.openxmlformats.org/drawingml/2006/main"/>
        </p:blipFill>
        <p:spPr>
          <a:xfrm xmlns:a="http://schemas.openxmlformats.org/drawingml/2006/main">
            <a:off x="9067800" y="2762250"/>
            <a:ext cx="2286000" cy="2286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18A032B-8CFD-44F2-B711-C41CEDCC0D6A}"/>
              </a:ext>
            </a:extLst>
          </p:cNvPr>
          <p:cNvSpPr>
            <a:spLocks xmlns:a="http://schemas.openxmlformats.org/drawingml/2006/main" noGrp="1"/>
          </p:cNvSpPr>
          <p:nvPr/>
        </p:nvSpPr>
        <p:spPr>
          <a:xfrm xmlns:a="http://schemas.openxmlformats.org/drawingml/2006/main">
            <a:off x="9067800" y="52101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0312B"/>
                </a:solidFill>
                <a:latin typeface="Arial"/>
                <a:ea typeface="Arial"/>
                <a:cs typeface="Arial"/>
              </a:defRPr>
            </a:defPPr>
          </a:lstStyle>
          <a:p xmlns:a="http://schemas.openxmlformats.org/drawingml/2006/main">
            <a:pPr>
              <a:defRPr sz="1875" b="1">
                <a:solidFill>
                  <a:srgbClr val="20312B"/>
                </a:solidFill>
                <a:latin typeface="Arial"/>
                <a:ea typeface="Arial"/>
                <a:cs typeface="Arial"/>
              </a:defRPr>
            </a:pPr>
            <a:r>
              <a:rPr sz="1875" b="1">
                <a:solidFill>
                  <a:srgbClr val="20312B"/>
                </a:solidFill>
                <a:latin typeface="Arial"/>
                <a:ea typeface="Arial"/>
                <a:cs typeface="Arial"/>
              </a:rPr>
              <a:t>Medium</a:t>
            </a:r>
          </a:p>
        </p:txBody>
      </p:sp>
      <p:sp>
        <p:nvSpPr>
          <p:cNvPr id="14" name="">
            <a:extLst xmlns:a="http://schemas.openxmlformats.org/drawingml/2006/main">
              <a:ext uri="{FF2B5EF4-FFF2-40B4-BE49-F238E27FC236}">
                <a16:creationId xmlns:a16="http://schemas.microsoft.com/office/drawing/2014/main" id="{F2A58DEA-89BF-4C39-82A5-DCA4A258B4B2}"/>
              </a:ext>
            </a:extLst>
          </p:cNvPr>
          <p:cNvSpPr>
            <a:spLocks xmlns:a="http://schemas.openxmlformats.org/drawingml/2006/main" noGrp="1"/>
          </p:cNvSpPr>
          <p:nvPr/>
        </p:nvSpPr>
        <p:spPr>
          <a:xfrm xmlns:a="http://schemas.openxmlformats.org/drawingml/2006/main">
            <a:off x="609600" y="5791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A685F"/>
                </a:solidFill>
                <a:latin typeface="Arial"/>
                <a:ea typeface="Arial"/>
                <a:cs typeface="Arial"/>
              </a:defRPr>
            </a:defPPr>
          </a:lstStyle>
          <a:p xmlns:a="http://schemas.openxmlformats.org/drawingml/2006/main">
            <a:pPr>
              <a:defRPr sz="1575" b="0">
                <a:solidFill>
                  <a:srgbClr val="5A685F"/>
                </a:solidFill>
                <a:latin typeface="Arial"/>
                <a:ea typeface="Arial"/>
                <a:cs typeface="Arial"/>
              </a:defRPr>
            </a:pPr>
            <a:r>
              <a:rPr sz="1575" b="0">
                <a:solidFill>
                  <a:srgbClr val="5A685F"/>
                </a:solidFill>
                <a:latin typeface="Arial"/>
                <a:ea typeface="Arial"/>
                <a:cs typeface="Arial"/>
              </a:rPr>
              <a:t>Educational image classification; defects and SCA certification are outside this scope.</a:t>
            </a:r>
          </a:p>
        </p:txBody>
      </p:sp>
    </p:spTree>
    <p:extLst>
      <p:ext uri="{BB962C8B-B14F-4D97-AF65-F5344CB8AC3E}">
        <p14:creationId xmlns:p14="http://schemas.microsoft.com/office/powerpoint/2010/main" val="177780399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23C253-E285-4C4E-BE26-51829AB93D31}"/>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0EF6A633-F742-4F5C-935F-797879B3CE32}"/>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An audit changed our evaluation</a:t>
            </a:r>
          </a:p>
        </p:txBody>
      </p:sp>
      <p:sp>
        <p:nvSpPr>
          <p:cNvPr id="3" name="">
            <a:extLst xmlns:a="http://schemas.openxmlformats.org/drawingml/2006/main">
              <a:ext uri="{FF2B5EF4-FFF2-40B4-BE49-F238E27FC236}">
                <a16:creationId xmlns:a16="http://schemas.microsoft.com/office/drawing/2014/main" id="{88CEA57F-E7DD-40E6-B396-DB70D5FF110C}"/>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E72626A8-144D-49E9-B2C0-31272DB5F1EB}"/>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BF77C3C-1A8B-4342-91B3-A6FC4B0AC996}"/>
              </a:ext>
            </a:extLst>
          </p:cNvPr>
          <p:cNvSpPr>
            <a:spLocks xmlns:a="http://schemas.openxmlformats.org/drawingml/2006/main" noGrp="1"/>
          </p:cNvSpPr>
          <p:nvPr/>
        </p:nvSpPr>
        <p:spPr>
          <a:xfrm xmlns:a="http://schemas.openxmlformats.org/drawingml/2006/main">
            <a:off x="609600" y="197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5604A"/>
                </a:solidFill>
                <a:latin typeface="Arial"/>
                <a:ea typeface="Arial"/>
                <a:cs typeface="Arial"/>
              </a:defRPr>
            </a:defPPr>
          </a:lstStyle>
          <a:p xmlns:a="http://schemas.openxmlformats.org/drawingml/2006/main">
            <a:pPr>
              <a:defRPr sz="2550" b="1">
                <a:solidFill>
                  <a:srgbClr val="35604A"/>
                </a:solidFill>
                <a:latin typeface="Arial"/>
                <a:ea typeface="Arial"/>
                <a:cs typeface="Arial"/>
              </a:defRPr>
            </a:pPr>
            <a:r>
              <a:rPr sz="2550" b="1">
                <a:solidFill>
                  <a:srgbClr val="35604A"/>
                </a:solidFill>
                <a:latin typeface="Arial"/>
                <a:ea typeface="Arial"/>
                <a:cs typeface="Arial"/>
              </a:rPr>
              <a:t>1,600 supplied images → 1,194 unique images</a:t>
            </a:r>
          </a:p>
        </p:txBody>
      </p:sp>
      <p:graphicFrame>
        <p:nvGraphicFramePr>
          <p:cNvPr id="6" name="Chart">
            <a:extLst xmlns:a="http://schemas.openxmlformats.org/drawingml/2006/main">
              <a:ext uri="{FF2B5EF4-FFF2-40B4-BE49-F238E27FC236}">
                <a16:creationId xmlns:a16="http://schemas.microsoft.com/office/drawing/2014/main" id="{D4B078B0-3B3E-4D13-9F81-321C90381368}"/>
              </a:ext>
            </a:extLst>
          </p:cNvPr>
          <p:cNvGraphicFramePr/>
          <p:nvPr/>
        </p:nvGraphicFramePr>
        <p:xfrm>
          <a:off xmlns:a="http://schemas.openxmlformats.org/drawingml/2006/main" x="609600" y="2867025"/>
          <a:ext xmlns:a="http://schemas.openxmlformats.org/drawingml/2006/main" cx="6286500" cy="2886075"/>
        </p:xfrm>
        <a:graphic xmlns:a="http://schemas.openxmlformats.org/drawingml/2006/main">
          <a:graphicData uri="http://schemas.openxmlformats.org/drawingml/2006/chart">
            <c:chart xmlns:r="http://schemas.openxmlformats.org/officeDocument/2006/relationships" xmlns:c="http://schemas.openxmlformats.org/drawingml/2006/chart" r:id="Rdb71eb421026494b"/>
          </a:graphicData>
        </a:graphic>
      </p:graphicFrame>
      <p:sp>
        <p:nvSpPr>
          <p:cNvPr id="7" name="">
            <a:extLst xmlns:a="http://schemas.openxmlformats.org/drawingml/2006/main">
              <a:ext uri="{FF2B5EF4-FFF2-40B4-BE49-F238E27FC236}">
                <a16:creationId xmlns:a16="http://schemas.microsoft.com/office/drawing/2014/main" id="{4D50ECF9-3765-4897-8029-53F5D4581E6B}"/>
              </a:ext>
            </a:extLst>
          </p:cNvPr>
          <p:cNvSpPr>
            <a:spLocks xmlns:a="http://schemas.openxmlformats.org/drawingml/2006/main" noGrp="1"/>
          </p:cNvSpPr>
          <p:nvPr/>
        </p:nvSpPr>
        <p:spPr>
          <a:xfrm xmlns:a="http://schemas.openxmlformats.org/drawingml/2006/main">
            <a:off x="7429500" y="2895600"/>
            <a:ext cx="4143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406 duplicate copies removed</a:t>
            </a:r>
          </a:p>
        </p:txBody>
      </p:sp>
      <p:sp>
        <p:nvSpPr>
          <p:cNvPr id="8" name="">
            <a:extLst xmlns:a="http://schemas.openxmlformats.org/drawingml/2006/main">
              <a:ext uri="{FF2B5EF4-FFF2-40B4-BE49-F238E27FC236}">
                <a16:creationId xmlns:a16="http://schemas.microsoft.com/office/drawing/2014/main" id="{F98414A8-B007-44E7-80E3-3C60E8D7B8F6}"/>
              </a:ext>
            </a:extLst>
          </p:cNvPr>
          <p:cNvSpPr>
            <a:spLocks xmlns:a="http://schemas.openxmlformats.org/drawingml/2006/main" noGrp="1"/>
          </p:cNvSpPr>
          <p:nvPr/>
        </p:nvSpPr>
        <p:spPr>
          <a:xfrm xmlns:a="http://schemas.openxmlformats.org/drawingml/2006/main">
            <a:off x="7429500" y="3638550"/>
            <a:ext cx="4143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All 400 old test images overlapped</a:t>
            </a:r>
          </a:p>
        </p:txBody>
      </p:sp>
      <p:sp>
        <p:nvSpPr>
          <p:cNvPr id="9" name="">
            <a:extLst xmlns:a="http://schemas.openxmlformats.org/drawingml/2006/main">
              <a:ext uri="{FF2B5EF4-FFF2-40B4-BE49-F238E27FC236}">
                <a16:creationId xmlns:a16="http://schemas.microsoft.com/office/drawing/2014/main" id="{41778418-45CA-4997-BA64-A01ACD887AB2}"/>
              </a:ext>
            </a:extLst>
          </p:cNvPr>
          <p:cNvSpPr>
            <a:spLocks xmlns:a="http://schemas.openxmlformats.org/drawingml/2006/main" noGrp="1"/>
          </p:cNvSpPr>
          <p:nvPr/>
        </p:nvSpPr>
        <p:spPr>
          <a:xfrm xmlns:a="http://schemas.openxmlformats.org/drawingml/2006/main">
            <a:off x="7429500" y="4381500"/>
            <a:ext cx="4143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Seed 42; fixed four-class order</a:t>
            </a:r>
          </a:p>
        </p:txBody>
      </p:sp>
      <p:sp>
        <p:nvSpPr>
          <p:cNvPr id="10" name="">
            <a:extLst xmlns:a="http://schemas.openxmlformats.org/drawingml/2006/main">
              <a:ext uri="{FF2B5EF4-FFF2-40B4-BE49-F238E27FC236}">
                <a16:creationId xmlns:a16="http://schemas.microsoft.com/office/drawing/2014/main" id="{7C996DE9-AB0B-4961-8D84-CDBCCAAFFD00}"/>
              </a:ext>
            </a:extLst>
          </p:cNvPr>
          <p:cNvSpPr>
            <a:spLocks xmlns:a="http://schemas.openxmlformats.org/drawingml/2006/main" noGrp="1"/>
          </p:cNvSpPr>
          <p:nvPr/>
        </p:nvSpPr>
        <p:spPr>
          <a:xfrm xmlns:a="http://schemas.openxmlformats.org/drawingml/2006/main">
            <a:off x="7429500" y="5124450"/>
            <a:ext cx="4143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CC BY-SA 4.0; both sources v1</a:t>
            </a:r>
          </a:p>
        </p:txBody>
      </p:sp>
    </p:spTree>
    <p:extLst>
      <p:ext uri="{BB962C8B-B14F-4D97-AF65-F5344CB8AC3E}">
        <p14:creationId xmlns:p14="http://schemas.microsoft.com/office/powerpoint/2010/main" val="90862374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A87316-43C2-4C04-AE6E-EE2B17C6AFE2}"/>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1C1D759A-8B8A-4752-B49F-1B26D315B223}"/>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Reproducible training in 22 minutes</a:t>
            </a:r>
          </a:p>
        </p:txBody>
      </p:sp>
      <p:sp>
        <p:nvSpPr>
          <p:cNvPr id="3" name="">
            <a:extLst xmlns:a="http://schemas.openxmlformats.org/drawingml/2006/main">
              <a:ext uri="{FF2B5EF4-FFF2-40B4-BE49-F238E27FC236}">
                <a16:creationId xmlns:a16="http://schemas.microsoft.com/office/drawing/2014/main" id="{193E4340-4E82-4162-9CB0-A54F5466944D}"/>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9A0B8E16-CC0D-48D3-AF79-47422684D21C}"/>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E2EE04B-3349-47A9-A280-1339EF7CEC7C}"/>
              </a:ext>
            </a:extLst>
          </p:cNvPr>
          <p:cNvSpPr>
            <a:spLocks xmlns:a="http://schemas.openxmlformats.org/drawingml/2006/main" noGrp="1"/>
          </p:cNvSpPr>
          <p:nvPr/>
        </p:nvSpPr>
        <p:spPr>
          <a:xfrm xmlns:a="http://schemas.openxmlformats.org/drawingml/2006/main">
            <a:off x="609600" y="197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5604A"/>
                </a:solidFill>
                <a:latin typeface="Arial"/>
                <a:ea typeface="Arial"/>
                <a:cs typeface="Arial"/>
              </a:defRPr>
            </a:defPPr>
          </a:lstStyle>
          <a:p xmlns:a="http://schemas.openxmlformats.org/drawingml/2006/main">
            <a:pPr>
              <a:defRPr sz="2250" b="1">
                <a:solidFill>
                  <a:srgbClr val="35604A"/>
                </a:solidFill>
                <a:latin typeface="Arial"/>
                <a:ea typeface="Arial"/>
                <a:cs typeface="Arial"/>
              </a:defRPr>
            </a:pPr>
            <a:r>
              <a:rPr sz="2250" b="1">
                <a:solidFill>
                  <a:srgbClr val="35604A"/>
                </a:solidFill>
                <a:latin typeface="Arial"/>
                <a:ea typeface="Arial"/>
                <a:cs typeface="Arial"/>
              </a:rPr>
              <a:t>Best checkpoint: epoch 10  ·  181/181 test images correct</a:t>
            </a:r>
          </a:p>
        </p:txBody>
      </p:sp>
      <p:graphicFrame>
        <p:nvGraphicFramePr>
          <p:cNvPr id="6" name="Chart">
            <a:extLst xmlns:a="http://schemas.openxmlformats.org/drawingml/2006/main">
              <a:ext uri="{FF2B5EF4-FFF2-40B4-BE49-F238E27FC236}">
                <a16:creationId xmlns:a16="http://schemas.microsoft.com/office/drawing/2014/main" id="{06CDAA51-05AE-423B-A7B0-B8E00C21E9B3}"/>
              </a:ext>
            </a:extLst>
          </p:cNvPr>
          <p:cNvGraphicFramePr/>
          <p:nvPr/>
        </p:nvGraphicFramePr>
        <p:xfrm>
          <a:off xmlns:a="http://schemas.openxmlformats.org/drawingml/2006/main" x="609600" y="2895600"/>
          <a:ext xmlns:a="http://schemas.openxmlformats.org/drawingml/2006/main" cx="6819900" cy="2914650"/>
        </p:xfrm>
        <a:graphic xmlns:a="http://schemas.openxmlformats.org/drawingml/2006/main">
          <a:graphicData uri="http://schemas.openxmlformats.org/drawingml/2006/chart">
            <c:chart xmlns:r="http://schemas.openxmlformats.org/officeDocument/2006/relationships" xmlns:c="http://schemas.openxmlformats.org/drawingml/2006/chart" r:id="R4122e393dc4a43ce"/>
          </a:graphicData>
        </a:graphic>
      </p:graphicFrame>
      <p:sp>
        <p:nvSpPr>
          <p:cNvPr id="7" name="">
            <a:extLst xmlns:a="http://schemas.openxmlformats.org/drawingml/2006/main">
              <a:ext uri="{FF2B5EF4-FFF2-40B4-BE49-F238E27FC236}">
                <a16:creationId xmlns:a16="http://schemas.microsoft.com/office/drawing/2014/main" id="{B2F7B59C-80EA-44CD-B545-E0286E5DA832}"/>
              </a:ext>
            </a:extLst>
          </p:cNvPr>
          <p:cNvSpPr>
            <a:spLocks xmlns:a="http://schemas.openxmlformats.org/drawingml/2006/main" noGrp="1"/>
          </p:cNvSpPr>
          <p:nvPr/>
        </p:nvSpPr>
        <p:spPr>
          <a:xfrm xmlns:a="http://schemas.openxmlformats.org/drawingml/2006/main">
            <a:off x="7896225" y="2905125"/>
            <a:ext cx="3676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ImageNet Swin-T; seed 42</a:t>
            </a:r>
          </a:p>
        </p:txBody>
      </p:sp>
      <p:sp>
        <p:nvSpPr>
          <p:cNvPr id="8" name="">
            <a:extLst xmlns:a="http://schemas.openxmlformats.org/drawingml/2006/main">
              <a:ext uri="{FF2B5EF4-FFF2-40B4-BE49-F238E27FC236}">
                <a16:creationId xmlns:a16="http://schemas.microsoft.com/office/drawing/2014/main" id="{AA082DB2-E29D-4F13-9E02-6AE1F26C62E9}"/>
              </a:ext>
            </a:extLst>
          </p:cNvPr>
          <p:cNvSpPr>
            <a:spLocks xmlns:a="http://schemas.openxmlformats.org/drawingml/2006/main" noGrp="1"/>
          </p:cNvSpPr>
          <p:nvPr/>
        </p:nvSpPr>
        <p:spPr>
          <a:xfrm xmlns:a="http://schemas.openxmlformats.org/drawingml/2006/main">
            <a:off x="7896225" y="3648075"/>
            <a:ext cx="3676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20 epochs; batch 8; locked env</a:t>
            </a:r>
          </a:p>
        </p:txBody>
      </p:sp>
      <p:sp>
        <p:nvSpPr>
          <p:cNvPr id="9" name="">
            <a:extLst xmlns:a="http://schemas.openxmlformats.org/drawingml/2006/main">
              <a:ext uri="{FF2B5EF4-FFF2-40B4-BE49-F238E27FC236}">
                <a16:creationId xmlns:a16="http://schemas.microsoft.com/office/drawing/2014/main" id="{EACBB2EA-BCFA-4231-8CE4-2AE8E446DE3B}"/>
              </a:ext>
            </a:extLst>
          </p:cNvPr>
          <p:cNvSpPr>
            <a:spLocks xmlns:a="http://schemas.openxmlformats.org/drawingml/2006/main" noGrp="1"/>
          </p:cNvSpPr>
          <p:nvPr/>
        </p:nvSpPr>
        <p:spPr>
          <a:xfrm xmlns:a="http://schemas.openxmlformats.org/drawingml/2006/main">
            <a:off x="7896225" y="4391025"/>
            <a:ext cx="3676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INT8: 29.6 MiB; F1 retained</a:t>
            </a:r>
          </a:p>
        </p:txBody>
      </p:sp>
      <p:sp>
        <p:nvSpPr>
          <p:cNvPr id="10" name="">
            <a:extLst xmlns:a="http://schemas.openxmlformats.org/drawingml/2006/main">
              <a:ext uri="{FF2B5EF4-FFF2-40B4-BE49-F238E27FC236}">
                <a16:creationId xmlns:a16="http://schemas.microsoft.com/office/drawing/2014/main" id="{1A37443B-DC82-4269-B0A5-E83FC7039B63}"/>
              </a:ext>
            </a:extLst>
          </p:cNvPr>
          <p:cNvSpPr>
            <a:spLocks xmlns:a="http://schemas.openxmlformats.org/drawingml/2006/main" noGrp="1"/>
          </p:cNvSpPr>
          <p:nvPr/>
        </p:nvSpPr>
        <p:spPr>
          <a:xfrm xmlns:a="http://schemas.openxmlformats.org/drawingml/2006/main">
            <a:off x="7896225" y="5133975"/>
            <a:ext cx="3676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64.3 ms local export median</a:t>
            </a:r>
          </a:p>
        </p:txBody>
      </p:sp>
    </p:spTree>
    <p:extLst>
      <p:ext uri="{BB962C8B-B14F-4D97-AF65-F5344CB8AC3E}">
        <p14:creationId xmlns:p14="http://schemas.microsoft.com/office/powerpoint/2010/main" val="26744515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58FAF5-E177-42B2-BECC-5A8EDC43A5FD}"/>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0355A3A6-FAD4-4CBC-826B-43F95CC9B733}"/>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Build, publish and operate</a:t>
            </a:r>
          </a:p>
        </p:txBody>
      </p:sp>
      <p:sp>
        <p:nvSpPr>
          <p:cNvPr id="3" name="">
            <a:extLst xmlns:a="http://schemas.openxmlformats.org/drawingml/2006/main">
              <a:ext uri="{FF2B5EF4-FFF2-40B4-BE49-F238E27FC236}">
                <a16:creationId xmlns:a16="http://schemas.microsoft.com/office/drawing/2014/main" id="{8938058D-13DB-49AC-A2AB-EE4AC01B2323}"/>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9EE4FFE4-E066-45C0-9AD3-83087AA16EA1}"/>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852A0D5-222A-4AC7-9276-BA41791DC789}"/>
              </a:ext>
            </a:extLst>
          </p:cNvPr>
          <p:cNvSpPr>
            <a:spLocks xmlns:a="http://schemas.openxmlformats.org/drawingml/2006/main" noGrp="1"/>
          </p:cNvSpPr>
          <p:nvPr/>
        </p:nvSpPr>
        <p:spPr>
          <a:xfrm xmlns:a="http://schemas.openxmlformats.org/drawingml/2006/main">
            <a:off x="609600" y="22764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5604A"/>
                </a:solidFill>
                <a:latin typeface="Arial"/>
                <a:ea typeface="Arial"/>
                <a:cs typeface="Arial"/>
              </a:defRPr>
            </a:defPPr>
          </a:lstStyle>
          <a:p xmlns:a="http://schemas.openxmlformats.org/drawingml/2006/main">
            <a:pPr>
              <a:defRPr sz="1875" b="1">
                <a:solidFill>
                  <a:srgbClr val="35604A"/>
                </a:solidFill>
                <a:latin typeface="Arial"/>
                <a:ea typeface="Arial"/>
                <a:cs typeface="Arial"/>
              </a:defRPr>
            </a:pPr>
            <a:r>
              <a:rPr sz="1875" b="1">
                <a:solidFill>
                  <a:srgbClr val="35604A"/>
                </a:solidFill>
                <a:latin typeface="Arial"/>
                <a:ea typeface="Arial"/>
                <a:cs typeface="Arial"/>
              </a:rPr>
              <a:t>BUILD</a:t>
            </a:r>
          </a:p>
        </p:txBody>
      </p:sp>
      <p:sp>
        <p:nvSpPr>
          <p:cNvPr id="6" name="">
            <a:extLst xmlns:a="http://schemas.openxmlformats.org/drawingml/2006/main">
              <a:ext uri="{FF2B5EF4-FFF2-40B4-BE49-F238E27FC236}">
                <a16:creationId xmlns:a16="http://schemas.microsoft.com/office/drawing/2014/main" id="{FBF92136-DF18-41C6-9046-0D8E319A66B2}"/>
              </a:ext>
            </a:extLst>
          </p:cNvPr>
          <p:cNvSpPr>
            <a:spLocks xmlns:a="http://schemas.openxmlformats.org/drawingml/2006/main" noGrp="1"/>
          </p:cNvSpPr>
          <p:nvPr/>
        </p:nvSpPr>
        <p:spPr>
          <a:xfrm xmlns:a="http://schemas.openxmlformats.org/drawingml/2006/main">
            <a:off x="4343400" y="22764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5604A"/>
                </a:solidFill>
                <a:latin typeface="Arial"/>
                <a:ea typeface="Arial"/>
                <a:cs typeface="Arial"/>
              </a:defRPr>
            </a:defPPr>
          </a:lstStyle>
          <a:p xmlns:a="http://schemas.openxmlformats.org/drawingml/2006/main">
            <a:pPr>
              <a:defRPr sz="1875" b="1">
                <a:solidFill>
                  <a:srgbClr val="35604A"/>
                </a:solidFill>
                <a:latin typeface="Arial"/>
                <a:ea typeface="Arial"/>
                <a:cs typeface="Arial"/>
              </a:defRPr>
            </a:pPr>
            <a:r>
              <a:rPr sz="1875" b="1">
                <a:solidFill>
                  <a:srgbClr val="35604A"/>
                </a:solidFill>
                <a:latin typeface="Arial"/>
                <a:ea typeface="Arial"/>
                <a:cs typeface="Arial"/>
              </a:rPr>
              <a:t>PUBLISH</a:t>
            </a:r>
          </a:p>
        </p:txBody>
      </p:sp>
      <p:sp>
        <p:nvSpPr>
          <p:cNvPr id="7" name="">
            <a:extLst xmlns:a="http://schemas.openxmlformats.org/drawingml/2006/main">
              <a:ext uri="{FF2B5EF4-FFF2-40B4-BE49-F238E27FC236}">
                <a16:creationId xmlns:a16="http://schemas.microsoft.com/office/drawing/2014/main" id="{9F2EA425-BA0F-49F6-BE46-0184600CE4A5}"/>
              </a:ext>
            </a:extLst>
          </p:cNvPr>
          <p:cNvSpPr>
            <a:spLocks xmlns:a="http://schemas.openxmlformats.org/drawingml/2006/main" noGrp="1"/>
          </p:cNvSpPr>
          <p:nvPr/>
        </p:nvSpPr>
        <p:spPr>
          <a:xfrm xmlns:a="http://schemas.openxmlformats.org/drawingml/2006/main">
            <a:off x="8077200" y="22764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5604A"/>
                </a:solidFill>
                <a:latin typeface="Arial"/>
                <a:ea typeface="Arial"/>
                <a:cs typeface="Arial"/>
              </a:defRPr>
            </a:defPPr>
          </a:lstStyle>
          <a:p xmlns:a="http://schemas.openxmlformats.org/drawingml/2006/main">
            <a:pPr>
              <a:defRPr sz="1875" b="1">
                <a:solidFill>
                  <a:srgbClr val="35604A"/>
                </a:solidFill>
                <a:latin typeface="Arial"/>
                <a:ea typeface="Arial"/>
                <a:cs typeface="Arial"/>
              </a:defRPr>
            </a:pPr>
            <a:r>
              <a:rPr sz="1875" b="1">
                <a:solidFill>
                  <a:srgbClr val="35604A"/>
                </a:solidFill>
                <a:latin typeface="Arial"/>
                <a:ea typeface="Arial"/>
                <a:cs typeface="Arial"/>
              </a:rPr>
              <a:t>OPERATE</a:t>
            </a:r>
          </a:p>
        </p:txBody>
      </p:sp>
      <p:sp>
        <p:nvSpPr>
          <p:cNvPr id="8" name="">
            <a:extLst xmlns:a="http://schemas.openxmlformats.org/drawingml/2006/main">
              <a:ext uri="{FF2B5EF4-FFF2-40B4-BE49-F238E27FC236}">
                <a16:creationId xmlns:a16="http://schemas.microsoft.com/office/drawing/2014/main" id="{EF06E0FF-4CCF-4138-939E-C305D25468BB}"/>
              </a:ext>
            </a:extLst>
          </p:cNvPr>
          <p:cNvSpPr>
            <a:spLocks xmlns:a="http://schemas.openxmlformats.org/drawingml/2006/main" noGrp="1"/>
          </p:cNvSpPr>
          <p:nvPr/>
        </p:nvSpPr>
        <p:spPr>
          <a:xfrm xmlns:a="http://schemas.openxmlformats.org/drawingml/2006/main">
            <a:off x="609600" y="29527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Git + private Blob DVC</a:t>
            </a:r>
          </a:p>
        </p:txBody>
      </p:sp>
      <p:sp>
        <p:nvSpPr>
          <p:cNvPr id="9" name="">
            <a:extLst xmlns:a="http://schemas.openxmlformats.org/drawingml/2006/main">
              <a:ext uri="{FF2B5EF4-FFF2-40B4-BE49-F238E27FC236}">
                <a16:creationId xmlns:a16="http://schemas.microsoft.com/office/drawing/2014/main" id="{701A9A4D-6F1B-4547-9051-6E182B1FFE1C}"/>
              </a:ext>
            </a:extLst>
          </p:cNvPr>
          <p:cNvSpPr>
            <a:spLocks xmlns:a="http://schemas.openxmlformats.org/drawingml/2006/main" noGrp="1"/>
          </p:cNvSpPr>
          <p:nvPr/>
        </p:nvSpPr>
        <p:spPr>
          <a:xfrm xmlns:a="http://schemas.openxmlformats.org/drawingml/2006/main">
            <a:off x="609600" y="36195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Locked automated training</a:t>
            </a:r>
          </a:p>
        </p:txBody>
      </p:sp>
      <p:sp>
        <p:nvSpPr>
          <p:cNvPr id="10" name="">
            <a:extLst xmlns:a="http://schemas.openxmlformats.org/drawingml/2006/main">
              <a:ext uri="{FF2B5EF4-FFF2-40B4-BE49-F238E27FC236}">
                <a16:creationId xmlns:a16="http://schemas.microsoft.com/office/drawing/2014/main" id="{A15A58BB-611B-4CBA-B780-FE7447047A34}"/>
              </a:ext>
            </a:extLst>
          </p:cNvPr>
          <p:cNvSpPr>
            <a:spLocks xmlns:a="http://schemas.openxmlformats.org/drawingml/2006/main" noGrp="1"/>
          </p:cNvSpPr>
          <p:nvPr/>
        </p:nvSpPr>
        <p:spPr>
          <a:xfrm xmlns:a="http://schemas.openxmlformats.org/drawingml/2006/main">
            <a:off x="609600" y="4286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Immutable model bundle</a:t>
            </a:r>
          </a:p>
        </p:txBody>
      </p:sp>
      <p:sp>
        <p:nvSpPr>
          <p:cNvPr id="11" name="">
            <a:extLst xmlns:a="http://schemas.openxmlformats.org/drawingml/2006/main">
              <a:ext uri="{FF2B5EF4-FFF2-40B4-BE49-F238E27FC236}">
                <a16:creationId xmlns:a16="http://schemas.microsoft.com/office/drawing/2014/main" id="{A715D7A7-CAC9-4956-9F6D-9B36F9C68205}"/>
              </a:ext>
            </a:extLst>
          </p:cNvPr>
          <p:cNvSpPr>
            <a:spLocks xmlns:a="http://schemas.openxmlformats.org/drawingml/2006/main" noGrp="1"/>
          </p:cNvSpPr>
          <p:nvPr/>
        </p:nvSpPr>
        <p:spPr>
          <a:xfrm xmlns:a="http://schemas.openxmlformats.org/drawingml/2006/main">
            <a:off x="609600" y="4953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Azure ML registry lineage</a:t>
            </a:r>
          </a:p>
        </p:txBody>
      </p:sp>
      <p:sp>
        <p:nvSpPr>
          <p:cNvPr id="12" name="">
            <a:extLst xmlns:a="http://schemas.openxmlformats.org/drawingml/2006/main">
              <a:ext uri="{FF2B5EF4-FFF2-40B4-BE49-F238E27FC236}">
                <a16:creationId xmlns:a16="http://schemas.microsoft.com/office/drawing/2014/main" id="{EE230ED0-D7E9-4C2D-886E-B4821CAA441E}"/>
              </a:ext>
            </a:extLst>
          </p:cNvPr>
          <p:cNvSpPr>
            <a:spLocks xmlns:a="http://schemas.openxmlformats.org/drawingml/2006/main" noGrp="1"/>
          </p:cNvSpPr>
          <p:nvPr/>
        </p:nvSpPr>
        <p:spPr>
          <a:xfrm xmlns:a="http://schemas.openxmlformats.org/drawingml/2006/main">
            <a:off x="4343400" y="29527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CI data / model / API tests</a:t>
            </a:r>
          </a:p>
        </p:txBody>
      </p:sp>
      <p:sp>
        <p:nvSpPr>
          <p:cNvPr id="13" name="">
            <a:extLst xmlns:a="http://schemas.openxmlformats.org/drawingml/2006/main">
              <a:ext uri="{FF2B5EF4-FFF2-40B4-BE49-F238E27FC236}">
                <a16:creationId xmlns:a16="http://schemas.microsoft.com/office/drawing/2014/main" id="{0E2E3953-D6D3-40F6-895C-163A14A2BAA3}"/>
              </a:ext>
            </a:extLst>
          </p:cNvPr>
          <p:cNvSpPr>
            <a:spLocks xmlns:a="http://schemas.openxmlformats.org/drawingml/2006/main" noGrp="1"/>
          </p:cNvSpPr>
          <p:nvPr/>
        </p:nvSpPr>
        <p:spPr>
          <a:xfrm xmlns:a="http://schemas.openxmlformats.org/drawingml/2006/main">
            <a:off x="4343400" y="36195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Linux container integration</a:t>
            </a:r>
          </a:p>
        </p:txBody>
      </p:sp>
      <p:sp>
        <p:nvSpPr>
          <p:cNvPr id="14" name="">
            <a:extLst xmlns:a="http://schemas.openxmlformats.org/drawingml/2006/main">
              <a:ext uri="{FF2B5EF4-FFF2-40B4-BE49-F238E27FC236}">
                <a16:creationId xmlns:a16="http://schemas.microsoft.com/office/drawing/2014/main" id="{DADB6AA0-19FF-44C8-9267-7DB5EA93AB5F}"/>
              </a:ext>
            </a:extLst>
          </p:cNvPr>
          <p:cNvSpPr>
            <a:spLocks xmlns:a="http://schemas.openxmlformats.org/drawingml/2006/main" noGrp="1"/>
          </p:cNvSpPr>
          <p:nvPr/>
        </p:nvSpPr>
        <p:spPr>
          <a:xfrm xmlns:a="http://schemas.openxmlformats.org/drawingml/2006/main">
            <a:off x="4343400" y="4286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Private ACR image digest</a:t>
            </a:r>
          </a:p>
        </p:txBody>
      </p:sp>
      <p:sp>
        <p:nvSpPr>
          <p:cNvPr id="15" name="">
            <a:extLst xmlns:a="http://schemas.openxmlformats.org/drawingml/2006/main">
              <a:ext uri="{FF2B5EF4-FFF2-40B4-BE49-F238E27FC236}">
                <a16:creationId xmlns:a16="http://schemas.microsoft.com/office/drawing/2014/main" id="{A20DAC6A-F3D0-4F7C-A9D2-EFB5C048CCD9}"/>
              </a:ext>
            </a:extLst>
          </p:cNvPr>
          <p:cNvSpPr>
            <a:spLocks xmlns:a="http://schemas.openxmlformats.org/drawingml/2006/main" noGrp="1"/>
          </p:cNvSpPr>
          <p:nvPr/>
        </p:nvSpPr>
        <p:spPr>
          <a:xfrm xmlns:a="http://schemas.openxmlformats.org/drawingml/2006/main">
            <a:off x="4343400" y="4953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Candidate checks → promote</a:t>
            </a:r>
          </a:p>
        </p:txBody>
      </p:sp>
      <p:sp>
        <p:nvSpPr>
          <p:cNvPr id="16" name="">
            <a:extLst xmlns:a="http://schemas.openxmlformats.org/drawingml/2006/main">
              <a:ext uri="{FF2B5EF4-FFF2-40B4-BE49-F238E27FC236}">
                <a16:creationId xmlns:a16="http://schemas.microsoft.com/office/drawing/2014/main" id="{CB31D0F8-1523-4411-81FD-81E55D046E34}"/>
              </a:ext>
            </a:extLst>
          </p:cNvPr>
          <p:cNvSpPr>
            <a:spLocks xmlns:a="http://schemas.openxmlformats.org/drawingml/2006/main" noGrp="1"/>
          </p:cNvSpPr>
          <p:nvPr/>
        </p:nvSpPr>
        <p:spPr>
          <a:xfrm xmlns:a="http://schemas.openxmlformats.org/drawingml/2006/main">
            <a:off x="8077200" y="2952750"/>
            <a:ext cx="3495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Container Apps East Asia</a:t>
            </a:r>
          </a:p>
        </p:txBody>
      </p:sp>
      <p:sp>
        <p:nvSpPr>
          <p:cNvPr id="17" name="">
            <a:extLst xmlns:a="http://schemas.openxmlformats.org/drawingml/2006/main">
              <a:ext uri="{FF2B5EF4-FFF2-40B4-BE49-F238E27FC236}">
                <a16:creationId xmlns:a16="http://schemas.microsoft.com/office/drawing/2014/main" id="{DC6B7802-0F79-4F4A-89F5-E173D13644B8}"/>
              </a:ext>
            </a:extLst>
          </p:cNvPr>
          <p:cNvSpPr>
            <a:spLocks xmlns:a="http://schemas.openxmlformats.org/drawingml/2006/main" noGrp="1"/>
          </p:cNvSpPr>
          <p:nvPr/>
        </p:nvSpPr>
        <p:spPr>
          <a:xfrm xmlns:a="http://schemas.openxmlformats.org/drawingml/2006/main">
            <a:off x="8077200" y="3619500"/>
            <a:ext cx="3495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2 vCPU / 4 GiB; min 0 / max 2</a:t>
            </a:r>
          </a:p>
        </p:txBody>
      </p:sp>
      <p:sp>
        <p:nvSpPr>
          <p:cNvPr id="18" name="">
            <a:extLst xmlns:a="http://schemas.openxmlformats.org/drawingml/2006/main">
              <a:ext uri="{FF2B5EF4-FFF2-40B4-BE49-F238E27FC236}">
                <a16:creationId xmlns:a16="http://schemas.microsoft.com/office/drawing/2014/main" id="{2AF01B82-D63B-4E59-87DB-164A960666A5}"/>
              </a:ext>
            </a:extLst>
          </p:cNvPr>
          <p:cNvSpPr>
            <a:spLocks xmlns:a="http://schemas.openxmlformats.org/drawingml/2006/main" noGrp="1"/>
          </p:cNvSpPr>
          <p:nvPr/>
        </p:nvSpPr>
        <p:spPr>
          <a:xfrm xmlns:a="http://schemas.openxmlformats.org/drawingml/2006/main">
            <a:off x="8077200" y="4286250"/>
            <a:ext cx="3495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JSON logs + Azure workbook</a:t>
            </a:r>
          </a:p>
        </p:txBody>
      </p:sp>
      <p:sp>
        <p:nvSpPr>
          <p:cNvPr id="19" name="">
            <a:extLst xmlns:a="http://schemas.openxmlformats.org/drawingml/2006/main">
              <a:ext uri="{FF2B5EF4-FFF2-40B4-BE49-F238E27FC236}">
                <a16:creationId xmlns:a16="http://schemas.microsoft.com/office/drawing/2014/main" id="{FEDABA76-C3C7-406F-9A02-8216330F3609}"/>
              </a:ext>
            </a:extLst>
          </p:cNvPr>
          <p:cNvSpPr>
            <a:spLocks xmlns:a="http://schemas.openxmlformats.org/drawingml/2006/main" noGrp="1"/>
          </p:cNvSpPr>
          <p:nvPr/>
        </p:nvSpPr>
        <p:spPr>
          <a:xfrm xmlns:a="http://schemas.openxmlformats.org/drawingml/2006/main">
            <a:off x="8077200" y="4953000"/>
            <a:ext cx="3495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12B"/>
                </a:solidFill>
                <a:latin typeface="Arial"/>
                <a:ea typeface="Arial"/>
                <a:cs typeface="Arial"/>
              </a:defRPr>
            </a:defPPr>
          </a:lstStyle>
          <a:p xmlns:a="http://schemas.openxmlformats.org/drawingml/2006/main">
            <a:pPr>
              <a:defRPr sz="1875" b="0">
                <a:solidFill>
                  <a:srgbClr val="20312B"/>
                </a:solidFill>
                <a:latin typeface="Arial"/>
                <a:ea typeface="Arial"/>
                <a:cs typeface="Arial"/>
              </a:defRPr>
            </a:pPr>
            <a:r>
              <a:rPr sz="1875" b="0">
                <a:solidFill>
                  <a:srgbClr val="20312B"/>
                </a:solidFill>
                <a:latin typeface="Arial"/>
                <a:ea typeface="Arial"/>
                <a:cs typeface="Arial"/>
              </a:rPr>
              <a:t>Camera failure → email alert</a:t>
            </a:r>
          </a:p>
        </p:txBody>
      </p:sp>
    </p:spTree>
    <p:extLst>
      <p:ext uri="{BB962C8B-B14F-4D97-AF65-F5344CB8AC3E}">
        <p14:creationId xmlns:p14="http://schemas.microsoft.com/office/powerpoint/2010/main" val="86137909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9A7205-9143-4663-9C67-6CABB45D9402}"/>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C3E34590-45C1-4C4E-8675-F6692A9503F5}"/>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Live prediction and controlled errors</a:t>
            </a:r>
          </a:p>
        </p:txBody>
      </p:sp>
      <p:sp>
        <p:nvSpPr>
          <p:cNvPr id="3" name="">
            <a:extLst xmlns:a="http://schemas.openxmlformats.org/drawingml/2006/main">
              <a:ext uri="{FF2B5EF4-FFF2-40B4-BE49-F238E27FC236}">
                <a16:creationId xmlns:a16="http://schemas.microsoft.com/office/drawing/2014/main" id="{2A16758A-64E7-402D-B458-4FE1F6C894EC}"/>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91BE877C-AB14-4618-A77D-7FAB3465D30A}"/>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736AFAA-929E-4EDD-B074-B443C18F3114}"/>
              </a:ext>
            </a:extLst>
          </p:cNvPr>
          <p:cNvSpPr>
            <a:spLocks xmlns:a="http://schemas.openxmlformats.org/drawingml/2006/main" noGrp="1"/>
          </p:cNvSpPr>
          <p:nvPr/>
        </p:nvSpPr>
        <p:spPr>
          <a:xfrm xmlns:a="http://schemas.openxmlformats.org/drawingml/2006/main">
            <a:off x="609600" y="2171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/predict  ·  raw JPEG/PNG or multipart file</a:t>
            </a:r>
          </a:p>
        </p:txBody>
      </p:sp>
      <p:sp>
        <p:nvSpPr>
          <p:cNvPr id="6" name="">
            <a:extLst xmlns:a="http://schemas.openxmlformats.org/drawingml/2006/main">
              <a:ext uri="{FF2B5EF4-FFF2-40B4-BE49-F238E27FC236}">
                <a16:creationId xmlns:a16="http://schemas.microsoft.com/office/drawing/2014/main" id="{FFCEDFAD-821E-41AC-A368-9D0D947B17BD}"/>
              </a:ext>
            </a:extLst>
          </p:cNvPr>
          <p:cNvSpPr>
            <a:spLocks xmlns:a="http://schemas.openxmlformats.org/drawingml/2006/main" noGrp="1"/>
          </p:cNvSpPr>
          <p:nvPr/>
        </p:nvSpPr>
        <p:spPr>
          <a:xfrm xmlns:a="http://schemas.openxmlformats.org/drawingml/2006/main">
            <a:off x="609600" y="29813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/predict/base64  ·  strict JSON/base64</a:t>
            </a:r>
          </a:p>
        </p:txBody>
      </p:sp>
      <p:sp>
        <p:nvSpPr>
          <p:cNvPr id="7" name="">
            <a:extLst xmlns:a="http://schemas.openxmlformats.org/drawingml/2006/main">
              <a:ext uri="{FF2B5EF4-FFF2-40B4-BE49-F238E27FC236}">
                <a16:creationId xmlns:a16="http://schemas.microsoft.com/office/drawing/2014/main" id="{449AA13F-8185-4E4F-B3B4-487C37E70660}"/>
              </a:ext>
            </a:extLst>
          </p:cNvPr>
          <p:cNvSpPr>
            <a:spLocks xmlns:a="http://schemas.openxmlformats.org/drawingml/2006/main" noGrp="1"/>
          </p:cNvSpPr>
          <p:nvPr/>
        </p:nvSpPr>
        <p:spPr>
          <a:xfrm xmlns:a="http://schemas.openxmlformats.org/drawingml/2006/main">
            <a:off x="609600" y="37909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Four probabilities; fixed IDs; matching model version</a:t>
            </a:r>
          </a:p>
        </p:txBody>
      </p:sp>
      <p:sp>
        <p:nvSpPr>
          <p:cNvPr id="8" name="">
            <a:extLst xmlns:a="http://schemas.openxmlformats.org/drawingml/2006/main">
              <a:ext uri="{FF2B5EF4-FFF2-40B4-BE49-F238E27FC236}">
                <a16:creationId xmlns:a16="http://schemas.microsoft.com/office/drawing/2014/main" id="{45F97527-3812-4221-8A9C-004DA19AF210}"/>
              </a:ext>
            </a:extLst>
          </p:cNvPr>
          <p:cNvSpPr>
            <a:spLocks xmlns:a="http://schemas.openxmlformats.org/drawingml/2006/main" noGrp="1"/>
          </p:cNvSpPr>
          <p:nvPr/>
        </p:nvSpPr>
        <p:spPr>
          <a:xfrm xmlns:a="http://schemas.openxmlformats.org/drawingml/2006/main">
            <a:off x="609600" y="48577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5604A"/>
                </a:solidFill>
                <a:latin typeface="Arial"/>
                <a:ea typeface="Arial"/>
                <a:cs typeface="Arial"/>
              </a:defRPr>
            </a:defPPr>
          </a:lstStyle>
          <a:p xmlns:a="http://schemas.openxmlformats.org/drawingml/2006/main">
            <a:pPr>
              <a:defRPr sz="1875" b="1">
                <a:solidFill>
                  <a:srgbClr val="35604A"/>
                </a:solidFill>
                <a:latin typeface="Arial"/>
                <a:ea typeface="Arial"/>
                <a:cs typeface="Arial"/>
              </a:defRPr>
            </a:pPr>
            <a:r>
              <a:rPr sz="1875" b="1">
                <a:solidFill>
                  <a:srgbClr val="35604A"/>
                </a:solidFill>
                <a:latin typeface="Arial"/>
                <a:ea typeface="Arial"/>
                <a:cs typeface="Arial"/>
              </a:rPr>
              <a:t>400 unreadable  /  413 oversized  /  415 unsupported  /  422 rejected</a:t>
            </a:r>
          </a:p>
        </p:txBody>
      </p:sp>
      <p:sp>
        <p:nvSpPr>
          <p:cNvPr id="9" name="">
            <a:extLst xmlns:a="http://schemas.openxmlformats.org/drawingml/2006/main">
              <a:ext uri="{FF2B5EF4-FFF2-40B4-BE49-F238E27FC236}">
                <a16:creationId xmlns:a16="http://schemas.microsoft.com/office/drawing/2014/main" id="{5470282E-51C1-40D6-834B-9817BC845A71}"/>
              </a:ext>
            </a:extLst>
          </p:cNvPr>
          <p:cNvSpPr>
            <a:spLocks xmlns:a="http://schemas.openxmlformats.org/drawingml/2006/main" noGrp="1"/>
          </p:cNvSpPr>
          <p:nvPr/>
        </p:nvSpPr>
        <p:spPr>
          <a:xfrm xmlns:a="http://schemas.openxmlformats.org/drawingml/2006/main">
            <a:off x="609600" y="5476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A685F"/>
                </a:solidFill>
                <a:latin typeface="Arial"/>
                <a:ea typeface="Arial"/>
                <a:cs typeface="Arial"/>
              </a:defRPr>
            </a:defPPr>
          </a:lstStyle>
          <a:p xmlns:a="http://schemas.openxmlformats.org/drawingml/2006/main">
            <a:pPr>
              <a:defRPr sz="1875" b="0">
                <a:solidFill>
                  <a:srgbClr val="5A685F"/>
                </a:solidFill>
                <a:latin typeface="Arial"/>
                <a:ea typeface="Arial"/>
                <a:cs typeface="Arial"/>
              </a:defRPr>
            </a:pPr>
            <a:r>
              <a:rPr sz="1875" b="0">
                <a:solidFill>
                  <a:srgbClr val="5A685F"/>
                </a:solidFill>
                <a:latin typeface="Arial"/>
                <a:ea typeface="Arial"/>
                <a:cs typeface="Arial"/>
              </a:rPr>
              <a:t>5 MiB decoded  ·  20 megapixels  ·  inference concurrency 2</a:t>
            </a:r>
          </a:p>
        </p:txBody>
      </p:sp>
    </p:spTree>
    <p:extLst>
      <p:ext uri="{BB962C8B-B14F-4D97-AF65-F5344CB8AC3E}">
        <p14:creationId xmlns:p14="http://schemas.microsoft.com/office/powerpoint/2010/main" val="128007523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0C9F95-E8EB-4845-A07A-2836DE70BFA3}"/>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B481D7EA-BD48-4ED5-937A-27BBFBC50A25}"/>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We designed a camera failure</a:t>
            </a:r>
          </a:p>
        </p:txBody>
      </p:sp>
      <p:sp>
        <p:nvSpPr>
          <p:cNvPr id="3" name="">
            <a:extLst xmlns:a="http://schemas.openxmlformats.org/drawingml/2006/main">
              <a:ext uri="{FF2B5EF4-FFF2-40B4-BE49-F238E27FC236}">
                <a16:creationId xmlns:a16="http://schemas.microsoft.com/office/drawing/2014/main" id="{98E6BB7E-A688-4F2C-B6B5-B430EBF52DA2}"/>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B38CADEA-23CF-44FC-BE92-16D3ECF3694F}"/>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802C497-103D-4A9F-9FB5-6BC88CD23B28}"/>
              </a:ext>
            </a:extLst>
          </p:cNvPr>
          <p:cNvSpPr>
            <a:spLocks xmlns:a="http://schemas.openxmlformats.org/drawingml/2006/main" noGrp="1"/>
          </p:cNvSpPr>
          <p:nvPr/>
        </p:nvSpPr>
        <p:spPr>
          <a:xfrm xmlns:a="http://schemas.openxmlformats.org/drawingml/2006/main">
            <a:off x="609600" y="22479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Covered / overexposed camera → HTTP 422 before inference</a:t>
            </a:r>
          </a:p>
        </p:txBody>
      </p:sp>
      <p:sp>
        <p:nvSpPr>
          <p:cNvPr id="6" name="">
            <a:extLst xmlns:a="http://schemas.openxmlformats.org/drawingml/2006/main">
              <a:ext uri="{FF2B5EF4-FFF2-40B4-BE49-F238E27FC236}">
                <a16:creationId xmlns:a16="http://schemas.microsoft.com/office/drawing/2014/main" id="{3285A578-4C5C-436F-813A-5D0D7735921A}"/>
              </a:ext>
            </a:extLst>
          </p:cNvPr>
          <p:cNvSpPr>
            <a:spLocks xmlns:a="http://schemas.openxmlformats.org/drawingml/2006/main" noGrp="1"/>
          </p:cNvSpPr>
          <p:nvPr/>
        </p:nvSpPr>
        <p:spPr>
          <a:xfrm xmlns:a="http://schemas.openxmlformats.org/drawingml/2006/main">
            <a:off x="609600" y="30861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Structured rejection log + anomaly counter</a:t>
            </a:r>
          </a:p>
        </p:txBody>
      </p:sp>
      <p:sp>
        <p:nvSpPr>
          <p:cNvPr id="7" name="">
            <a:extLst xmlns:a="http://schemas.openxmlformats.org/drawingml/2006/main">
              <a:ext uri="{FF2B5EF4-FFF2-40B4-BE49-F238E27FC236}">
                <a16:creationId xmlns:a16="http://schemas.microsoft.com/office/drawing/2014/main" id="{C268CAE6-43E4-49EE-BB34-C85AB8127FE5}"/>
              </a:ext>
            </a:extLst>
          </p:cNvPr>
          <p:cNvSpPr>
            <a:spLocks xmlns:a="http://schemas.openxmlformats.org/drawingml/2006/main" noGrp="1"/>
          </p:cNvSpPr>
          <p:nvPr/>
        </p:nvSpPr>
        <p:spPr>
          <a:xfrm xmlns:a="http://schemas.openxmlformats.org/drawingml/2006/main">
            <a:off x="609600" y="3924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Prometheus alert delivered to local webhook</a:t>
            </a:r>
          </a:p>
        </p:txBody>
      </p:sp>
      <p:sp>
        <p:nvSpPr>
          <p:cNvPr id="8" name="">
            <a:extLst xmlns:a="http://schemas.openxmlformats.org/drawingml/2006/main">
              <a:ext uri="{FF2B5EF4-FFF2-40B4-BE49-F238E27FC236}">
                <a16:creationId xmlns:a16="http://schemas.microsoft.com/office/drawing/2014/main" id="{30CEB905-08B2-4E1F-91A7-39D6D3B539AA}"/>
              </a:ext>
            </a:extLst>
          </p:cNvPr>
          <p:cNvSpPr>
            <a:spLocks xmlns:a="http://schemas.openxmlformats.org/drawingml/2006/main" noGrp="1"/>
          </p:cNvSpPr>
          <p:nvPr/>
        </p:nvSpPr>
        <p:spPr>
          <a:xfrm xmlns:a="http://schemas.openxmlformats.org/drawingml/2006/main">
            <a:off x="609600" y="4762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Azure five-minute rule → email action group</a:t>
            </a:r>
          </a:p>
        </p:txBody>
      </p:sp>
      <p:sp>
        <p:nvSpPr>
          <p:cNvPr id="9" name="">
            <a:extLst xmlns:a="http://schemas.openxmlformats.org/drawingml/2006/main">
              <a:ext uri="{FF2B5EF4-FFF2-40B4-BE49-F238E27FC236}">
                <a16:creationId xmlns:a16="http://schemas.microsoft.com/office/drawing/2014/main" id="{5A5A2352-24A6-4391-B133-277E9CD9D05B}"/>
              </a:ext>
            </a:extLst>
          </p:cNvPr>
          <p:cNvSpPr>
            <a:spLocks xmlns:a="http://schemas.openxmlformats.org/drawingml/2006/main" noGrp="1"/>
          </p:cNvSpPr>
          <p:nvPr/>
        </p:nvSpPr>
        <p:spPr>
          <a:xfrm xmlns:a="http://schemas.openxmlformats.org/drawingml/2006/main">
            <a:off x="609600" y="5724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35604A"/>
                </a:solidFill>
                <a:latin typeface="Arial"/>
                <a:ea typeface="Arial"/>
                <a:cs typeface="Arial"/>
              </a:defRPr>
            </a:defPPr>
          </a:lstStyle>
          <a:p xmlns:a="http://schemas.openxmlformats.org/drawingml/2006/main">
            <a:pPr>
              <a:defRPr sz="1800" b="1">
                <a:solidFill>
                  <a:srgbClr val="35604A"/>
                </a:solidFill>
                <a:latin typeface="Arial"/>
                <a:ea typeface="Arial"/>
                <a:cs typeface="Arial"/>
              </a:defRPr>
            </a:pPr>
            <a:r>
              <a:rPr sz="1800" b="1">
                <a:solidFill>
                  <a:srgbClr val="35604A"/>
                </a:solidFill>
                <a:latin typeface="Arial"/>
                <a:ea typeface="Arial"/>
                <a:cs typeface="Arial"/>
              </a:rPr>
              <a:t>Guard removal failed GitHub CI; the release workflow was skipped</a:t>
            </a:r>
          </a:p>
        </p:txBody>
      </p:sp>
    </p:spTree>
    <p:extLst>
      <p:ext uri="{BB962C8B-B14F-4D97-AF65-F5344CB8AC3E}">
        <p14:creationId xmlns:p14="http://schemas.microsoft.com/office/powerpoint/2010/main" val="97757146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7B3295-456E-42B5-BA00-F91E83A240BC}"/>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3351347C-AEB6-4495-BDB8-349BD297B573}"/>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Measured performance and the bill</a:t>
            </a:r>
          </a:p>
        </p:txBody>
      </p:sp>
      <p:sp>
        <p:nvSpPr>
          <p:cNvPr id="3" name="">
            <a:extLst xmlns:a="http://schemas.openxmlformats.org/drawingml/2006/main">
              <a:ext uri="{FF2B5EF4-FFF2-40B4-BE49-F238E27FC236}">
                <a16:creationId xmlns:a16="http://schemas.microsoft.com/office/drawing/2014/main" id="{724BF4F8-F93D-4BAC-BF32-87B1AB423512}"/>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E5F4B4C2-EF03-4FCF-91BE-8A20D4FE9A19}"/>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2D5CA70-1CDD-4CB2-AB4B-163D4FF11904}"/>
              </a:ext>
            </a:extLst>
          </p:cNvPr>
          <p:cNvSpPr>
            <a:spLocks xmlns:a="http://schemas.openxmlformats.org/drawingml/2006/main" noGrp="1"/>
          </p:cNvSpPr>
          <p:nvPr/>
        </p:nvSpPr>
        <p:spPr>
          <a:xfrm xmlns:a="http://schemas.openxmlformats.org/drawingml/2006/main">
            <a:off x="609600" y="2200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Warm p95 240.6 ms / p99 250.7 ms</a:t>
            </a:r>
          </a:p>
        </p:txBody>
      </p:sp>
      <p:sp>
        <p:nvSpPr>
          <p:cNvPr id="6" name="">
            <a:extLst xmlns:a="http://schemas.openxmlformats.org/drawingml/2006/main">
              <a:ext uri="{FF2B5EF4-FFF2-40B4-BE49-F238E27FC236}">
                <a16:creationId xmlns:a16="http://schemas.microsoft.com/office/drawing/2014/main" id="{015ADF62-75EF-48E1-A63D-32C36F4FCEAC}"/>
              </a:ext>
            </a:extLst>
          </p:cNvPr>
          <p:cNvSpPr>
            <a:spLocks xmlns:a="http://schemas.openxmlformats.org/drawingml/2006/main" noGrp="1"/>
          </p:cNvSpPr>
          <p:nvPr/>
        </p:nvSpPr>
        <p:spPr>
          <a:xfrm xmlns:a="http://schemas.openxmlformats.org/drawingml/2006/main">
            <a:off x="609600" y="2962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20 cold trials: p95 28.95 s / p99 28.99 s</a:t>
            </a:r>
          </a:p>
        </p:txBody>
      </p:sp>
      <p:sp>
        <p:nvSpPr>
          <p:cNvPr id="7" name="">
            <a:extLst xmlns:a="http://schemas.openxmlformats.org/drawingml/2006/main">
              <a:ext uri="{FF2B5EF4-FFF2-40B4-BE49-F238E27FC236}">
                <a16:creationId xmlns:a16="http://schemas.microsoft.com/office/drawing/2014/main" id="{B7EFFDF1-36B2-481D-9125-8CB808C42176}"/>
              </a:ext>
            </a:extLst>
          </p:cNvPr>
          <p:cNvSpPr>
            <a:spLocks xmlns:a="http://schemas.openxmlformats.org/drawingml/2006/main" noGrp="1"/>
          </p:cNvSpPr>
          <p:nvPr/>
        </p:nvSpPr>
        <p:spPr>
          <a:xfrm xmlns:a="http://schemas.openxmlformats.org/drawingml/2006/main">
            <a:off x="609600" y="3724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Fixed warm targets 289/301 ms; cold 34.74/34.79 s</a:t>
            </a:r>
          </a:p>
        </p:txBody>
      </p:sp>
      <p:sp>
        <p:nvSpPr>
          <p:cNvPr id="8" name="">
            <a:extLst xmlns:a="http://schemas.openxmlformats.org/drawingml/2006/main">
              <a:ext uri="{FF2B5EF4-FFF2-40B4-BE49-F238E27FC236}">
                <a16:creationId xmlns:a16="http://schemas.microsoft.com/office/drawing/2014/main" id="{B741698E-2A14-405E-9F53-D8F7C56F8ED4}"/>
              </a:ext>
            </a:extLst>
          </p:cNvPr>
          <p:cNvSpPr>
            <a:spLocks xmlns:a="http://schemas.openxmlformats.org/drawingml/2006/main" noGrp="1"/>
          </p:cNvSpPr>
          <p:nvPr/>
        </p:nvSpPr>
        <p:spPr>
          <a:xfrm xmlns:a="http://schemas.openxmlformats.org/drawingml/2006/main">
            <a:off x="609600" y="4486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12B"/>
                </a:solidFill>
                <a:latin typeface="Arial"/>
                <a:ea typeface="Arial"/>
                <a:cs typeface="Arial"/>
              </a:defRPr>
            </a:defPPr>
          </a:lstStyle>
          <a:p xmlns:a="http://schemas.openxmlformats.org/drawingml/2006/main">
            <a:pPr>
              <a:defRPr sz="2175" b="0">
                <a:solidFill>
                  <a:srgbClr val="20312B"/>
                </a:solidFill>
                <a:latin typeface="Arial"/>
                <a:ea typeface="Arial"/>
                <a:cs typeface="Arial"/>
              </a:defRPr>
            </a:pPr>
            <a:r>
              <a:rPr sz="2175" b="0">
                <a:solidFill>
                  <a:srgbClr val="20312B"/>
                </a:solidFill>
                <a:latin typeface="Arial"/>
                <a:ea typeface="Arial"/>
                <a:cs typeface="Arial"/>
              </a:rPr>
              <a:t>Serving estimate: ≤0.4713 THB / 1,000 predictions</a:t>
            </a:r>
          </a:p>
        </p:txBody>
      </p:sp>
      <p:sp>
        <p:nvSpPr>
          <p:cNvPr id="9" name="">
            <a:extLst xmlns:a="http://schemas.openxmlformats.org/drawingml/2006/main">
              <a:ext uri="{FF2B5EF4-FFF2-40B4-BE49-F238E27FC236}">
                <a16:creationId xmlns:a16="http://schemas.microsoft.com/office/drawing/2014/main" id="{D9177EDD-C87B-4391-9004-E04E3EFF885A}"/>
              </a:ext>
            </a:extLst>
          </p:cNvPr>
          <p:cNvSpPr>
            <a:spLocks xmlns:a="http://schemas.openxmlformats.org/drawingml/2006/main" noGrp="1"/>
          </p:cNvSpPr>
          <p:nvPr/>
        </p:nvSpPr>
        <p:spPr>
          <a:xfrm xmlns:a="http://schemas.openxmlformats.org/drawingml/2006/main">
            <a:off x="609600" y="55626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35604A"/>
                </a:solidFill>
                <a:latin typeface="Arial"/>
                <a:ea typeface="Arial"/>
                <a:cs typeface="Arial"/>
              </a:defRPr>
            </a:defPPr>
          </a:lstStyle>
          <a:p xmlns:a="http://schemas.openxmlformats.org/drawingml/2006/main">
            <a:pPr>
              <a:defRPr sz="1800" b="1">
                <a:solidFill>
                  <a:srgbClr val="35604A"/>
                </a:solidFill>
                <a:latin typeface="Arial"/>
                <a:ea typeface="Arial"/>
                <a:cs typeface="Arial"/>
              </a:defRPr>
            </a:pPr>
            <a:r>
              <a:rPr sz="1800" b="1">
                <a:solidFill>
                  <a:srgbClr val="35604A"/>
                </a:solidFill>
                <a:latin typeface="Arial"/>
                <a:ea typeface="Arial"/>
                <a:cs typeface="Arial"/>
              </a:rPr>
              <a:t>Costs reported separately: serving / storage / registry / monitoring / training</a:t>
            </a:r>
          </a:p>
        </p:txBody>
      </p:sp>
    </p:spTree>
    <p:extLst>
      <p:ext uri="{BB962C8B-B14F-4D97-AF65-F5344CB8AC3E}">
        <p14:creationId xmlns:p14="http://schemas.microsoft.com/office/powerpoint/2010/main" val="177635052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F148A9-C954-4D00-B605-AFA1DDA95647}"/>
              </a:ext>
            </a:extLst>
          </p:cNvPr>
          <p:cNvSpPr>
            <a:spLocks xmlns:a="http://schemas.openxmlformats.org/drawingml/2006/main" noGrp="1"/>
          </p:cNvSpPr>
          <p:nvPr/>
        </p:nvSpPr>
        <p:spPr>
          <a:xfrm xmlns:a="http://schemas.openxmlformats.org/drawingml/2006/main">
            <a:off x="609600" y="3238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A685F"/>
                </a:solidFill>
                <a:latin typeface="Arial"/>
                <a:ea typeface="Arial"/>
                <a:cs typeface="Arial"/>
              </a:defRPr>
            </a:defPPr>
          </a:lstStyle>
          <a:p xmlns:a="http://schemas.openxmlformats.org/drawingml/2006/main">
            <a:pPr>
              <a:defRPr sz="1350" b="1">
                <a:solidFill>
                  <a:srgbClr val="5A685F"/>
                </a:solidFill>
                <a:latin typeface="Arial"/>
                <a:ea typeface="Arial"/>
                <a:cs typeface="Arial"/>
              </a:defRPr>
            </a:pPr>
            <a:r>
              <a:rPr sz="1350" b="1">
                <a:solidFill>
                  <a:srgbClr val="5A685F"/>
                </a:solidFill>
                <a:latin typeface="Arial"/>
                <a:ea typeface="Arial"/>
                <a:cs typeface="Arial"/>
              </a:rPr>
              <a:t>ITCS355  /  GROUP IDEA</a:t>
            </a:r>
          </a:p>
        </p:txBody>
      </p:sp>
      <p:sp>
        <p:nvSpPr>
          <p:cNvPr id="2" name="">
            <a:extLst xmlns:a="http://schemas.openxmlformats.org/drawingml/2006/main">
              <a:ext uri="{FF2B5EF4-FFF2-40B4-BE49-F238E27FC236}">
                <a16:creationId xmlns:a16="http://schemas.microsoft.com/office/drawing/2014/main" id="{530FB44A-FE39-4F9C-86E9-A425F895ED75}"/>
              </a:ext>
            </a:extLst>
          </p:cNvPr>
          <p:cNvSpPr>
            <a:spLocks xmlns:a="http://schemas.openxmlformats.org/drawingml/2006/main" noGrp="1"/>
          </p:cNvSpPr>
          <p:nvPr/>
        </p:nvSpPr>
        <p:spPr>
          <a:xfrm xmlns:a="http://schemas.openxmlformats.org/drawingml/2006/main">
            <a:off x="609600" y="8858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12B"/>
                </a:solidFill>
                <a:latin typeface="Arial"/>
                <a:ea typeface="Arial"/>
                <a:cs typeface="Arial"/>
              </a:defRPr>
            </a:defPPr>
          </a:lstStyle>
          <a:p xmlns:a="http://schemas.openxmlformats.org/drawingml/2006/main">
            <a:pPr>
              <a:defRPr sz="3300" b="1">
                <a:solidFill>
                  <a:srgbClr val="20312B"/>
                </a:solidFill>
                <a:latin typeface="Arial"/>
                <a:ea typeface="Arial"/>
                <a:cs typeface="Arial"/>
              </a:defRPr>
            </a:pPr>
            <a:r>
              <a:rPr sz="3300" b="1">
                <a:solidFill>
                  <a:srgbClr val="20312B"/>
                </a:solidFill>
                <a:latin typeface="Arial"/>
                <a:ea typeface="Arial"/>
                <a:cs typeface="Arial"/>
              </a:rPr>
              <a:t>Evidence, limitations and next steps</a:t>
            </a:r>
          </a:p>
        </p:txBody>
      </p:sp>
      <p:sp>
        <p:nvSpPr>
          <p:cNvPr id="3" name="">
            <a:extLst xmlns:a="http://schemas.openxmlformats.org/drawingml/2006/main">
              <a:ext uri="{FF2B5EF4-FFF2-40B4-BE49-F238E27FC236}">
                <a16:creationId xmlns:a16="http://schemas.microsoft.com/office/drawing/2014/main" id="{6AF1744E-D5BE-44C0-A00E-6BB64D42A08D}"/>
              </a:ext>
            </a:extLst>
          </p:cNvPr>
          <p:cNvSpPr>
            <a:spLocks xmlns:a="http://schemas.openxmlformats.org/drawingml/2006/main" noGrp="1"/>
          </p:cNvSpPr>
          <p:nvPr/>
        </p:nvSpPr>
        <p:spPr>
          <a:xfrm xmlns:a="http://schemas.openxmlformats.org/drawingml/2006/main">
            <a:off x="609600" y="63436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6688218 Peerawat  ·  6688230 Yongyot</a:t>
            </a:r>
          </a:p>
        </p:txBody>
      </p:sp>
      <p:sp>
        <p:nvSpPr>
          <p:cNvPr id="4" name="">
            <a:extLst xmlns:a="http://schemas.openxmlformats.org/drawingml/2006/main">
              <a:ext uri="{FF2B5EF4-FFF2-40B4-BE49-F238E27FC236}">
                <a16:creationId xmlns:a16="http://schemas.microsoft.com/office/drawing/2014/main" id="{F02BFE42-9B10-4637-B2FD-4C21508F2067}"/>
              </a:ext>
            </a:extLst>
          </p:cNvPr>
          <p:cNvSpPr>
            <a:spLocks xmlns:a="http://schemas.openxmlformats.org/drawingml/2006/main" noGrp="1"/>
          </p:cNvSpPr>
          <p:nvPr/>
        </p:nvSpPr>
        <p:spPr>
          <a:xfrm xmlns:a="http://schemas.openxmlformats.org/drawingml/2006/main">
            <a:off x="10953750" y="634365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85F"/>
                </a:solidFill>
                <a:latin typeface="Arial"/>
                <a:ea typeface="Arial"/>
                <a:cs typeface="Arial"/>
              </a:defRPr>
            </a:defPPr>
          </a:lstStyle>
          <a:p xmlns:a="http://schemas.openxmlformats.org/drawingml/2006/main">
            <a:pPr>
              <a:defRPr sz="1200" b="0">
                <a:solidFill>
                  <a:srgbClr val="5A685F"/>
                </a:solidFill>
                <a:latin typeface="Arial"/>
                <a:ea typeface="Arial"/>
                <a:cs typeface="Arial"/>
              </a:defRPr>
            </a:pPr>
            <a:r>
              <a:rPr sz="1200" b="0">
                <a:solidFill>
                  <a:srgbClr val="5A685F"/>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A47AA51-EC2D-4F7A-9539-3D8EB67664CC}"/>
              </a:ext>
            </a:extLst>
          </p:cNvPr>
          <p:cNvSpPr>
            <a:spLocks xmlns:a="http://schemas.openxmlformats.org/drawingml/2006/main" noGrp="1"/>
          </p:cNvSpPr>
          <p:nvPr/>
        </p:nvSpPr>
        <p:spPr>
          <a:xfrm xmlns:a="http://schemas.openxmlformats.org/drawingml/2006/main">
            <a:off x="609600" y="2114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12B"/>
                </a:solidFill>
                <a:latin typeface="Arial"/>
                <a:ea typeface="Arial"/>
                <a:cs typeface="Arial"/>
              </a:defRPr>
            </a:defPPr>
          </a:lstStyle>
          <a:p xmlns:a="http://schemas.openxmlformats.org/drawingml/2006/main">
            <a:pPr>
              <a:defRPr sz="2025" b="0">
                <a:solidFill>
                  <a:srgbClr val="20312B"/>
                </a:solidFill>
                <a:latin typeface="Arial"/>
                <a:ea typeface="Arial"/>
                <a:cs typeface="Arial"/>
              </a:defRPr>
            </a:pPr>
            <a:r>
              <a:rPr sz="2025" b="0">
                <a:solidFill>
                  <a:srgbClr val="20312B"/>
                </a:solidFill>
                <a:latin typeface="Arial"/>
                <a:ea typeface="Arial"/>
                <a:cs typeface="Arial"/>
              </a:rPr>
              <a:t>Evidence and remaining steps are tracked in the checklist</a:t>
            </a:r>
          </a:p>
        </p:txBody>
      </p:sp>
      <p:sp>
        <p:nvSpPr>
          <p:cNvPr id="6" name="">
            <a:extLst xmlns:a="http://schemas.openxmlformats.org/drawingml/2006/main">
              <a:ext uri="{FF2B5EF4-FFF2-40B4-BE49-F238E27FC236}">
                <a16:creationId xmlns:a16="http://schemas.microsoft.com/office/drawing/2014/main" id="{FB70900F-B8AD-4606-812B-FB95C59F47BC}"/>
              </a:ext>
            </a:extLst>
          </p:cNvPr>
          <p:cNvSpPr>
            <a:spLocks xmlns:a="http://schemas.openxmlformats.org/drawingml/2006/main" noGrp="1"/>
          </p:cNvSpPr>
          <p:nvPr/>
        </p:nvSpPr>
        <p:spPr>
          <a:xfrm xmlns:a="http://schemas.openxmlformats.org/drawingml/2006/main">
            <a:off x="609600" y="2876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12B"/>
                </a:solidFill>
                <a:latin typeface="Arial"/>
                <a:ea typeface="Arial"/>
                <a:cs typeface="Arial"/>
              </a:defRPr>
            </a:defPPr>
          </a:lstStyle>
          <a:p xmlns:a="http://schemas.openxmlformats.org/drawingml/2006/main">
            <a:pPr>
              <a:defRPr sz="2025" b="0">
                <a:solidFill>
                  <a:srgbClr val="20312B"/>
                </a:solidFill>
                <a:latin typeface="Arial"/>
                <a:ea typeface="Arial"/>
                <a:cs typeface="Arial"/>
              </a:defRPr>
            </a:pPr>
            <a:r>
              <a:rPr sz="2025" b="0">
                <a:solidFill>
                  <a:srgbClr val="20312B"/>
                </a:solidFill>
                <a:latin typeface="Arial"/>
                <a:ea typeface="Arial"/>
                <a:cs typeface="Arial"/>
              </a:rPr>
              <a:t>Uncalibrated confidence; source / camera confounding</a:t>
            </a:r>
          </a:p>
        </p:txBody>
      </p:sp>
      <p:sp>
        <p:nvSpPr>
          <p:cNvPr id="7" name="">
            <a:extLst xmlns:a="http://schemas.openxmlformats.org/drawingml/2006/main">
              <a:ext uri="{FF2B5EF4-FFF2-40B4-BE49-F238E27FC236}">
                <a16:creationId xmlns:a16="http://schemas.microsoft.com/office/drawing/2014/main" id="{B3E265D5-7B22-493B-AB3E-90046F3D19D2}"/>
              </a:ext>
            </a:extLst>
          </p:cNvPr>
          <p:cNvSpPr>
            <a:spLocks xmlns:a="http://schemas.openxmlformats.org/drawingml/2006/main" noGrp="1"/>
          </p:cNvSpPr>
          <p:nvPr/>
        </p:nvSpPr>
        <p:spPr>
          <a:xfrm xmlns:a="http://schemas.openxmlformats.org/drawingml/2006/main">
            <a:off x="609600" y="3638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12B"/>
                </a:solidFill>
                <a:latin typeface="Arial"/>
                <a:ea typeface="Arial"/>
                <a:cs typeface="Arial"/>
              </a:defRPr>
            </a:defPPr>
          </a:lstStyle>
          <a:p xmlns:a="http://schemas.openxmlformats.org/drawingml/2006/main">
            <a:pPr>
              <a:defRPr sz="2025" b="0">
                <a:solidFill>
                  <a:srgbClr val="20312B"/>
                </a:solidFill>
                <a:latin typeface="Arial"/>
                <a:ea typeface="Arial"/>
                <a:cs typeface="Arial"/>
              </a:defRPr>
            </a:pPr>
            <a:r>
              <a:rPr sz="2025" b="0">
                <a:solidFill>
                  <a:srgbClr val="20312B"/>
                </a:solidFill>
                <a:latin typeface="Arial"/>
                <a:ea typeface="Arial"/>
                <a:cs typeface="Arial"/>
              </a:rPr>
              <a:t>Uniform-frame guard does not reject every noncoffee image</a:t>
            </a:r>
          </a:p>
        </p:txBody>
      </p:sp>
      <p:sp>
        <p:nvSpPr>
          <p:cNvPr id="8" name="">
            <a:extLst xmlns:a="http://schemas.openxmlformats.org/drawingml/2006/main">
              <a:ext uri="{FF2B5EF4-FFF2-40B4-BE49-F238E27FC236}">
                <a16:creationId xmlns:a16="http://schemas.microsoft.com/office/drawing/2014/main" id="{5FAFF613-E156-4C53-8717-67C65A4CF7A4}"/>
              </a:ext>
            </a:extLst>
          </p:cNvPr>
          <p:cNvSpPr>
            <a:spLocks xmlns:a="http://schemas.openxmlformats.org/drawingml/2006/main" noGrp="1"/>
          </p:cNvSpPr>
          <p:nvPr/>
        </p:nvSpPr>
        <p:spPr>
          <a:xfrm xmlns:a="http://schemas.openxmlformats.org/drawingml/2006/main">
            <a:off x="609600" y="4400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12B"/>
                </a:solidFill>
                <a:latin typeface="Arial"/>
                <a:ea typeface="Arial"/>
                <a:cs typeface="Arial"/>
              </a:defRPr>
            </a:defPPr>
          </a:lstStyle>
          <a:p xmlns:a="http://schemas.openxmlformats.org/drawingml/2006/main">
            <a:pPr>
              <a:defRPr sz="2025" b="0">
                <a:solidFill>
                  <a:srgbClr val="20312B"/>
                </a:solidFill>
                <a:latin typeface="Arial"/>
                <a:ea typeface="Arial"/>
                <a:cs typeface="Arial"/>
              </a:defRPr>
            </a:pPr>
            <a:r>
              <a:rPr sz="2025" b="0">
                <a:solidFill>
                  <a:srgbClr val="20312B"/>
                </a:solidFill>
                <a:latin typeface="Arial"/>
                <a:ea typeface="Arial"/>
                <a:cs typeface="Arial"/>
              </a:rPr>
              <a:t>Next week: independent images and confidence calibration</a:t>
            </a:r>
          </a:p>
        </p:txBody>
      </p:sp>
      <p:sp>
        <p:nvSpPr>
          <p:cNvPr id="9" name="">
            <a:extLst xmlns:a="http://schemas.openxmlformats.org/drawingml/2006/main">
              <a:ext uri="{FF2B5EF4-FFF2-40B4-BE49-F238E27FC236}">
                <a16:creationId xmlns:a16="http://schemas.microsoft.com/office/drawing/2014/main" id="{D081B119-6A17-4FEB-8E82-E24867D1B9BA}"/>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12B"/>
                </a:solidFill>
                <a:latin typeface="Arial"/>
                <a:ea typeface="Arial"/>
                <a:cs typeface="Arial"/>
              </a:defRPr>
            </a:defPPr>
          </a:lstStyle>
          <a:p xmlns:a="http://schemas.openxmlformats.org/drawingml/2006/main">
            <a:pPr>
              <a:defRPr sz="2025" b="0">
                <a:solidFill>
                  <a:srgbClr val="20312B"/>
                </a:solidFill>
                <a:latin typeface="Arial"/>
                <a:ea typeface="Arial"/>
                <a:cs typeface="Arial"/>
              </a:defRPr>
            </a:pPr>
            <a:r>
              <a:rPr sz="2025" b="0">
                <a:solidFill>
                  <a:srgbClr val="20312B"/>
                </a:solidFill>
                <a:latin typeface="Arial"/>
                <a:ea typeface="Arial"/>
                <a:cs typeface="Arial"/>
              </a:rPr>
              <a:t>Academic approval, review, live Q&amp;A and submission remain pending</a:t>
            </a:r>
          </a:p>
        </p:txBody>
      </p:sp>
    </p:spTree>
    <p:extLst>
      <p:ext uri="{BB962C8B-B14F-4D97-AF65-F5344CB8AC3E}">
        <p14:creationId xmlns:p14="http://schemas.microsoft.com/office/powerpoint/2010/main" val="1180571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2026-10-11T17:35:08.0300000Z</dcterms:created>
  <dcterms:modified xsi:type="dcterms:W3CDTF">2026-10-11T17:35:08.0300000Z</dcterms:modified>
</coreProperties>
</file>